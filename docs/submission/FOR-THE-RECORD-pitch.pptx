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b62f28ca6e54a3e" /><Relationship Type="http://schemas.openxmlformats.org/officeDocument/2006/relationships/extended-properties" Target="/docProps/app.xml" Id="R25b3a5c7e02b4ef1" /><Relationship Type="http://schemas.openxmlformats.org/officeDocument/2006/relationships/officeDocument" Target="/ppt/presentation.xml" Id="R6d9a0271a9c846d4" /></Relationships>
</file>

<file path=ppt/presentation.xml><?xml version="1.0" encoding="utf-8"?>
<p:presentation xmlns:p="http://schemas.openxmlformats.org/presentationml/2006/main">
  <p:sldMasterIdLst>
    <p:sldMasterId xmlns:r="http://schemas.openxmlformats.org/officeDocument/2006/relationships" id="2147483648" r:id="R2fa538909e6a4241"/>
  </p:sldMasterIdLst>
  <p:notesMasterIdLst>
    <p:notesMasterId xmlns:r="http://schemas.openxmlformats.org/officeDocument/2006/relationships" r:id="R3cd98fe351d34856"/>
  </p:notesMasterIdLst>
  <p:sldIdLst>
    <p:sldId xmlns:r="http://schemas.openxmlformats.org/officeDocument/2006/relationships" id="256" r:id="R513009ceb976458a"/>
    <p:sldId xmlns:r="http://schemas.openxmlformats.org/officeDocument/2006/relationships" id="257" r:id="Rbd367173123543c9"/>
    <p:sldId xmlns:r="http://schemas.openxmlformats.org/officeDocument/2006/relationships" id="258" r:id="Re318fee9057a49c0"/>
    <p:sldId xmlns:r="http://schemas.openxmlformats.org/officeDocument/2006/relationships" id="259" r:id="Rc237c070bf5c4213"/>
    <p:sldId xmlns:r="http://schemas.openxmlformats.org/officeDocument/2006/relationships" id="260" r:id="R3006deb466d44b07"/>
    <p:sldId xmlns:r="http://schemas.openxmlformats.org/officeDocument/2006/relationships" id="261" r:id="Ra423f6d356c342dd"/>
    <p:sldId xmlns:r="http://schemas.openxmlformats.org/officeDocument/2006/relationships" id="262" r:id="Re5c9bced046d4397"/>
    <p:sldId xmlns:r="http://schemas.openxmlformats.org/officeDocument/2006/relationships" id="263" r:id="R5430ccad8c03442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08206f248ec4b7f" /><Relationship Type="http://schemas.openxmlformats.org/officeDocument/2006/relationships/slideMaster" Target="/ppt/slideMasters/slideMaster1.xml" Id="R2fa538909e6a4241" /><Relationship Type="http://schemas.openxmlformats.org/officeDocument/2006/relationships/notesMaster" Target="/ppt/notesMasters/notesMaster1.xml" Id="R3cd98fe351d34856" /><Relationship Type="http://schemas.openxmlformats.org/officeDocument/2006/relationships/presProps" Target="/ppt/presProps.xml" Id="R1f8e20a9cafa491b" /><Relationship Type="http://schemas.openxmlformats.org/officeDocument/2006/relationships/tableStyles" Target="/ppt/tableStyles.xml" Id="R1017139a13924b54" /><Relationship Type="http://schemas.openxmlformats.org/officeDocument/2006/relationships/slide" Target="/ppt/slides/slide1.xml" Id="R513009ceb976458a" /><Relationship Type="http://schemas.openxmlformats.org/officeDocument/2006/relationships/slide" Target="/ppt/slides/slide2.xml" Id="Rbd367173123543c9" /><Relationship Type="http://schemas.openxmlformats.org/officeDocument/2006/relationships/slide" Target="/ppt/slides/slide3.xml" Id="Re318fee9057a49c0" /><Relationship Type="http://schemas.openxmlformats.org/officeDocument/2006/relationships/slide" Target="/ppt/slides/slide4.xml" Id="Rc237c070bf5c4213" /><Relationship Type="http://schemas.openxmlformats.org/officeDocument/2006/relationships/slide" Target="/ppt/slides/slide5.xml" Id="R3006deb466d44b07" /><Relationship Type="http://schemas.openxmlformats.org/officeDocument/2006/relationships/slide" Target="/ppt/slides/slide6.xml" Id="Ra423f6d356c342dd" /><Relationship Type="http://schemas.openxmlformats.org/officeDocument/2006/relationships/slide" Target="/ppt/slides/slide7.xml" Id="Re5c9bced046d4397" /><Relationship Type="http://schemas.openxmlformats.org/officeDocument/2006/relationships/slide" Target="/ppt/slides/slide8.xml" Id="R5430ccad8c03442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0e86b0dc7d84c2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3a836e989094d58" /><Relationship Type="http://schemas.openxmlformats.org/officeDocument/2006/relationships/notesMaster" Target="/ppt/notesMasters/notesMaster1.xml" Id="Rc681cc69aced4420"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635a023ace4769" /><Relationship Type="http://schemas.openxmlformats.org/officeDocument/2006/relationships/notesMaster" Target="/ppt/notesMasters/notesMaster1.xml" Id="Rc1214e3bb3f9432b"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3405e76fa44152" /><Relationship Type="http://schemas.openxmlformats.org/officeDocument/2006/relationships/notesMaster" Target="/ppt/notesMasters/notesMaster1.xml" Id="R3ceacce766d84ffe" /></Relationships>
</file>

<file path=ppt/notesSlides/_rels/notesSlide4.xml.rels>&#65279;<?xml version="1.0" encoding="utf-8"?><Relationships xmlns="http://schemas.openxmlformats.org/package/2006/relationships"><Relationship Type="http://schemas.openxmlformats.org/officeDocument/2006/relationships/slide" Target="/ppt/slides/slide4.xml" Id="R95fee8cfd3044468" /><Relationship Type="http://schemas.openxmlformats.org/officeDocument/2006/relationships/notesMaster" Target="/ppt/notesMasters/notesMaster1.xml" Id="Rab34f7e81e4243e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4b15f49c84049e1" /><Relationship Type="http://schemas.openxmlformats.org/officeDocument/2006/relationships/notesMaster" Target="/ppt/notesMasters/notesMaster1.xml" Id="R0eb2d58ca57141fd" /></Relationships>
</file>

<file path=ppt/notesSlides/_rels/notesSlide6.xml.rels>&#65279;<?xml version="1.0" encoding="utf-8"?><Relationships xmlns="http://schemas.openxmlformats.org/package/2006/relationships"><Relationship Type="http://schemas.openxmlformats.org/officeDocument/2006/relationships/slide" Target="/ppt/slides/slide6.xml" Id="R0f6036e891f142ed" /><Relationship Type="http://schemas.openxmlformats.org/officeDocument/2006/relationships/notesMaster" Target="/ppt/notesMasters/notesMaster1.xml" Id="R379af2877cda4d49" /></Relationships>
</file>

<file path=ppt/notesSlides/_rels/notesSlide7.xml.rels>&#65279;<?xml version="1.0" encoding="utf-8"?><Relationships xmlns="http://schemas.openxmlformats.org/package/2006/relationships"><Relationship Type="http://schemas.openxmlformats.org/officeDocument/2006/relationships/slide" Target="/ppt/slides/slide7.xml" Id="Rfa9121979f954136" /><Relationship Type="http://schemas.openxmlformats.org/officeDocument/2006/relationships/notesMaster" Target="/ppt/notesMasters/notesMaster1.xml" Id="R4ec1c12014204278" /></Relationships>
</file>

<file path=ppt/notesSlides/_rels/notesSlide8.xml.rels>&#65279;<?xml version="1.0" encoding="utf-8"?><Relationships xmlns="http://schemas.openxmlformats.org/package/2006/relationships"><Relationship Type="http://schemas.openxmlformats.org/officeDocument/2006/relationships/slide" Target="/ppt/slides/slide8.xml" Id="R9d1e707ef9ac413a" /><Relationship Type="http://schemas.openxmlformats.org/officeDocument/2006/relationships/notesMaster" Target="/ppt/notesMasters/notesMaster1.xml" Id="R79abba89aadc4fd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pitch for CLOCK IN 2026. This deck describes the preview and explicitly distinguishes implementation from live network validation. Brand wording supplied by the owner.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rationale, not a measured market claim. No interviews, retention cohort, user counts or product-market-fit evidence have been supplied. Source: docs/TRADE_JOURNAL.md and current work-session domain/UI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Detail crop of screenshot 12-return-next-step-en.png from the passed Android integration test. The saved next action, Test the same flow with large text, becomes the next intention via Continue from your bookmark. It uses actual SQLite persistence and native elapsed time. No account or wallet is needed for this local workflow.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Detail crop of screenshot 19-sample-reopen-en.png. This sequence uses a synthetic transaction in an isolated integration test and proves UI/persistence only. The release APK contains no fixture mode. The direct preview uses native MWA and public RPC for read-only activity. A separate manual Android emulator run with the official Solana mock wallet approved a connection and read empty mainnet history. Physical Seeker and a supported live event-to-reflection flow remain unverified. The parser handles a narrow set of Jupiter v6 classic SPL swaps; unsupported formats remain unsupported. Public RPC has limits: https://solana.com/docs/references/clusters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records: lib/data/repository.dart. Direct read-only wallet activity: lib/data/direct_activity.dart and lib/data/remote.dart. The legacy Firebase backend remains for optional cloud features. No billing upgrade is required for the direct journal path. MWA overview: https://docs.solanamobile.com/developers/mobile-wallet-adapter . Public RPC does not provide an unlimited production service guarantee.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Languages in current lib/l10n/strings.dart: English, Korean, Japanese, Simplified Chinese, Hindi, Spanish, Portuguese, French. Source: Settings and localization implementation. Fluent-speaker review and physical-device accessibility review remain release tasks. Large text and glyph rendering must be verified for each release.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Consult the release evidence for the exact 0.3.1 checks. Automated parser/logic checks and Android emulator capture do not establish physical-device wallet success. Public RPC reachability alone does not establish the wallet-to-reflection flow. No production-signing key, live wallet success, physical-Seeker success, user traction or mainnet SKR payment is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Official requirements checked 2026-09-20: https://solanamobile.radiant.nexus/ and https://solanamobile.com/blog/clock-in-the-solana-mobile-hackathon . The portal Brief requests a three-minute demo. The terms require functional Android APK, source, demo and pitch with meaningful Solana interaction and MWA: https://solanamobile.radiant.nexus/legal/clock-in-terms.pdf . This preview is not represented as submission 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c2d250d26134e2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9efbfbf4f504033" /><Relationship Type="http://schemas.openxmlformats.org/officeDocument/2006/relationships/slideLayout" Target="/ppt/slideLayouts/slideLayout1.xml" Id="R7fe5019820cb410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fe5019820cb410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37930e649554233" /><Relationship Type="http://schemas.openxmlformats.org/officeDocument/2006/relationships/image" Target="/ppt/media/image.png" Id="Rfb3baa647d3e4bdf" /><Relationship Type="http://schemas.openxmlformats.org/officeDocument/2006/relationships/notesSlide" Target="/ppt/notesSlides/notesSlide1.xml" Id="R16894dcfd4794e4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87993c8a7ba42b7" /><Relationship Type="http://schemas.openxmlformats.org/officeDocument/2006/relationships/notesSlide" Target="/ppt/notesSlides/notesSlide2.xml" Id="R1d93aaf9bc8d4df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4c5198e961c4200" /><Relationship Type="http://schemas.openxmlformats.org/officeDocument/2006/relationships/image" Target="/ppt/media/image2.png" Id="R8f3383d29d16457d" /><Relationship Type="http://schemas.openxmlformats.org/officeDocument/2006/relationships/notesSlide" Target="/ppt/notesSlides/notesSlide3.xml" Id="R537b1e47cce3440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ce3eb83f19849a4" /><Relationship Type="http://schemas.openxmlformats.org/officeDocument/2006/relationships/image" Target="/ppt/media/image3.png" Id="Rf1d9ffe0848c4435" /><Relationship Type="http://schemas.openxmlformats.org/officeDocument/2006/relationships/notesSlide" Target="/ppt/notesSlides/notesSlide4.xml" Id="R31752a77088449e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fe1a8e356bd4664" /><Relationship Type="http://schemas.openxmlformats.org/officeDocument/2006/relationships/notesSlide" Target="/ppt/notesSlides/notesSlide5.xml" Id="R959217eaa78f4c4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8e08ae404624c64" /><Relationship Type="http://schemas.openxmlformats.org/officeDocument/2006/relationships/image" Target="/ppt/media/image4.png" Id="Rf0251c0c1cc641f7" /><Relationship Type="http://schemas.openxmlformats.org/officeDocument/2006/relationships/notesSlide" Target="/ppt/notesSlides/notesSlide6.xml" Id="Rcf9a7d61d4b54b1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ade2e9ce01a4f80" /><Relationship Type="http://schemas.openxmlformats.org/officeDocument/2006/relationships/notesSlide" Target="/ppt/notesSlides/notesSlide7.xml" Id="R5a8328a8865e444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8729e29b973480c" /><Relationship Type="http://schemas.openxmlformats.org/officeDocument/2006/relationships/notesSlide" Target="/ppt/notesSlides/notesSlide8.xml" Id="R82aec701790a4c55" /></Relationships>
</file>

<file path=ppt/slides/slide1.xml><?xml version="1.0" encoding="utf-8"?>
<p:sld xmlns:p="http://schemas.openxmlformats.org/presentationml/2006/main">
  <p:cSld>
    <p:bg>
      <p:bgPr>
        <a:solidFill xmlns:a="http://schemas.openxmlformats.org/drawingml/2006/main">
          <a:srgbClr val="191F2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8AE2C48-46FF-41ED-933C-BD65C30B7A7F}"/>
              </a:ext>
            </a:extLst>
          </p:cNvPr>
          <p:cNvSpPr>
            <a:spLocks xmlns:a="http://schemas.openxmlformats.org/drawingml/2006/main" noGrp="1"/>
          </p:cNvSpPr>
          <p:nvPr/>
        </p:nvSpPr>
        <p:spPr>
          <a:xfrm xmlns:a="http://schemas.openxmlformats.org/drawingml/2006/main">
            <a:off x="685800" y="1028700"/>
            <a:ext cx="104775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875" b="1">
                <a:solidFill>
                  <a:srgbClr val="FFFFFF"/>
                </a:solidFill>
                <a:latin typeface="Segoe UI"/>
                <a:ea typeface="Segoe UI"/>
                <a:cs typeface="Segoe UI"/>
              </a:defRPr>
            </a:pPr>
            <a:r>
              <a:rPr sz="7875" b="1">
                <a:solidFill>
                  <a:srgbClr val="FFFFFF"/>
                </a:solidFill>
                <a:latin typeface="Segoe UI"/>
                <a:ea typeface="Segoe UI"/>
                <a:cs typeface="Segoe UI"/>
              </a:rPr>
              <a:t>FOR THE</a:t>
            </a:r>
          </a:p>
          <a:p xmlns:a="http://schemas.openxmlformats.org/drawingml/2006/main">
            <a:pPr>
              <a:defRPr sz="7875" b="1">
                <a:solidFill>
                  <a:srgbClr val="FFFFFF"/>
                </a:solidFill>
                <a:latin typeface="Segoe UI"/>
                <a:ea typeface="Segoe UI"/>
                <a:cs typeface="Segoe UI"/>
              </a:defRPr>
            </a:pPr>
            <a:r>
              <a:rPr sz="7875" b="1">
                <a:solidFill>
                  <a:srgbClr val="FFFFFF"/>
                </a:solidFill>
                <a:latin typeface="Segoe UI"/>
                <a:ea typeface="Segoe UI"/>
                <a:cs typeface="Segoe UI"/>
              </a:rPr>
              <a:t>RECORD</a:t>
            </a:r>
          </a:p>
        </p:txBody>
      </p:sp>
      <p:sp>
        <p:nvSpPr>
          <p:cNvPr id="2" name="">
            <a:extLst xmlns:a="http://schemas.openxmlformats.org/drawingml/2006/main">
              <a:ext uri="{FF2B5EF4-FFF2-40B4-BE49-F238E27FC236}">
                <a16:creationId xmlns:a16="http://schemas.microsoft.com/office/drawing/2014/main" id="{551471FE-59B7-4F75-92C5-0FFE9ECA3021}"/>
              </a:ext>
            </a:extLst>
          </p:cNvPr>
          <p:cNvSpPr>
            <a:spLocks xmlns:a="http://schemas.openxmlformats.org/drawingml/2006/main" noGrp="1"/>
          </p:cNvSpPr>
          <p:nvPr/>
        </p:nvSpPr>
        <p:spPr>
          <a:xfrm xmlns:a="http://schemas.openxmlformats.org/drawingml/2006/main">
            <a:off x="723900" y="3752850"/>
            <a:ext cx="10620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Segoe UI"/>
                <a:ea typeface="Segoe UI"/>
                <a:cs typeface="Segoe UI"/>
              </a:defRPr>
            </a:pPr>
            <a:r>
              <a:rPr sz="2850" b="0">
                <a:solidFill>
                  <a:srgbClr val="FFFFFF"/>
                </a:solidFill>
                <a:latin typeface="Segoe UI"/>
                <a:ea typeface="Segoe UI"/>
                <a:cs typeface="Segoe UI"/>
              </a:rPr>
              <a:t>“For the record, this is why I did it.”</a:t>
            </a:r>
          </a:p>
        </p:txBody>
      </p:sp>
      <p:sp>
        <p:nvSpPr>
          <p:cNvPr id="3" name="">
            <a:extLst xmlns:a="http://schemas.openxmlformats.org/drawingml/2006/main">
              <a:ext uri="{FF2B5EF4-FFF2-40B4-BE49-F238E27FC236}">
                <a16:creationId xmlns:a16="http://schemas.microsoft.com/office/drawing/2014/main" id="{92192442-7A7C-403B-8F32-C05303B4D03A}"/>
              </a:ext>
            </a:extLst>
          </p:cNvPr>
          <p:cNvSpPr>
            <a:spLocks xmlns:a="http://schemas.openxmlformats.org/drawingml/2006/main" noGrp="1"/>
          </p:cNvSpPr>
          <p:nvPr/>
        </p:nvSpPr>
        <p:spPr>
          <a:xfrm xmlns:a="http://schemas.openxmlformats.org/drawingml/2006/main">
            <a:off x="723900" y="4819650"/>
            <a:ext cx="1019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FFFFF"/>
                </a:solidFill>
                <a:latin typeface="Segoe UI"/>
                <a:ea typeface="Segoe UI"/>
                <a:cs typeface="Segoe UI"/>
              </a:defRPr>
            </a:pPr>
            <a:r>
              <a:rPr sz="2100" b="0">
                <a:solidFill>
                  <a:srgbClr val="FFFFFF"/>
                </a:solidFill>
                <a:latin typeface="Segoe UI"/>
                <a:ea typeface="Segoe UI"/>
                <a:cs typeface="Segoe UI"/>
              </a:rPr>
              <a:t>A private Android journal for work and wallet decisions</a:t>
            </a:r>
          </a:p>
        </p:txBody>
      </p:sp>
      <p:sp>
        <p:nvSpPr>
          <p:cNvPr id="4" name="">
            <a:extLst xmlns:a="http://schemas.openxmlformats.org/drawingml/2006/main">
              <a:ext uri="{FF2B5EF4-FFF2-40B4-BE49-F238E27FC236}">
                <a16:creationId xmlns:a16="http://schemas.microsoft.com/office/drawing/2014/main" id="{2720ADDE-93FC-4A48-8E8E-46EAB73D0421}"/>
              </a:ext>
            </a:extLst>
          </p:cNvPr>
          <p:cNvSpPr>
            <a:spLocks xmlns:a="http://schemas.openxmlformats.org/drawingml/2006/main" noGrp="1"/>
          </p:cNvSpPr>
          <p:nvPr/>
        </p:nvSpPr>
        <p:spPr>
          <a:xfrm xmlns:a="http://schemas.openxmlformats.org/drawingml/2006/main">
            <a:off x="723900" y="6096000"/>
            <a:ext cx="952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D5F56B"/>
                </a:solidFill>
                <a:latin typeface="Segoe UI"/>
                <a:ea typeface="Segoe UI"/>
                <a:cs typeface="Segoe UI"/>
              </a:defRPr>
            </a:pPr>
            <a:r>
              <a:rPr sz="1500" b="0">
                <a:solidFill>
                  <a:srgbClr val="D5F56B"/>
                </a:solidFill>
                <a:latin typeface="Segoe UI"/>
                <a:ea typeface="Segoe UI"/>
                <a:cs typeface="Segoe UI"/>
              </a:rPr>
              <a:t>CLOCK IN 2026  /  Preview 0.3.1</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b3baa647d3e4bdf"/>
          <a:stretch xmlns:a="http://schemas.openxmlformats.org/drawingml/2006/main"/>
        </p:blipFill>
        <p:spPr>
          <a:xfrm xmlns:a="http://schemas.openxmlformats.org/drawingml/2006/main">
            <a:off x="9429750" y="1190625"/>
            <a:ext cx="1809750" cy="1809750"/>
          </a:xfrm>
          <a:prstGeom xmlns:a="http://schemas.openxmlformats.org/drawingml/2006/main" prst="rect">
            <a:avLst/>
          </a:prstGeom>
        </p:spPr>
      </p:pic>
    </p:spTree>
    <p:extLst>
      <p:ext uri="{BB962C8B-B14F-4D97-AF65-F5344CB8AC3E}">
        <p14:creationId xmlns:p14="http://schemas.microsoft.com/office/powerpoint/2010/main" val="110396199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051875E-2B91-4E75-84CC-A549D9FCC0A8}"/>
              </a:ext>
            </a:extLst>
          </p:cNvPr>
          <p:cNvSpPr>
            <a:spLocks xmlns:a="http://schemas.openxmlformats.org/drawingml/2006/main" noGrp="1"/>
          </p:cNvSpPr>
          <p:nvPr/>
        </p:nvSpPr>
        <p:spPr>
          <a:xfrm xmlns:a="http://schemas.openxmlformats.org/drawingml/2006/main">
            <a:off x="685800" y="6667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00" b="1">
                <a:solidFill>
                  <a:srgbClr val="191F28"/>
                </a:solidFill>
                <a:latin typeface="Segoe UI"/>
                <a:ea typeface="Segoe UI"/>
                <a:cs typeface="Segoe UI"/>
              </a:defRPr>
            </a:pPr>
            <a:r>
              <a:rPr sz="4200" b="1">
                <a:solidFill>
                  <a:srgbClr val="191F28"/>
                </a:solidFill>
                <a:latin typeface="Segoe UI"/>
                <a:ea typeface="Segoe UI"/>
                <a:cs typeface="Segoe UI"/>
              </a:rPr>
              <a:t>The reason is easy to lose</a:t>
            </a:r>
          </a:p>
        </p:txBody>
      </p:sp>
      <p:sp>
        <p:nvSpPr>
          <p:cNvPr id="2" name="">
            <a:extLst xmlns:a="http://schemas.openxmlformats.org/drawingml/2006/main">
              <a:ext uri="{FF2B5EF4-FFF2-40B4-BE49-F238E27FC236}">
                <a16:creationId xmlns:a16="http://schemas.microsoft.com/office/drawing/2014/main" id="{33289CE5-7010-44A7-9F02-4625AC543960}"/>
              </a:ext>
            </a:extLst>
          </p:cNvPr>
          <p:cNvSpPr>
            <a:spLocks xmlns:a="http://schemas.openxmlformats.org/drawingml/2006/main" noGrp="1"/>
          </p:cNvSpPr>
          <p:nvPr/>
        </p:nvSpPr>
        <p:spPr>
          <a:xfrm xmlns:a="http://schemas.openxmlformats.org/drawingml/2006/main">
            <a:off x="685800" y="2133600"/>
            <a:ext cx="9810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007F78"/>
                </a:solidFill>
                <a:latin typeface="Segoe UI"/>
                <a:ea typeface="Segoe UI"/>
                <a:cs typeface="Segoe UI"/>
              </a:defRPr>
            </a:pPr>
            <a:r>
              <a:rPr sz="2850" b="1">
                <a:solidFill>
                  <a:srgbClr val="007F78"/>
                </a:solidFill>
                <a:latin typeface="Segoe UI"/>
                <a:ea typeface="Segoe UI"/>
                <a:cs typeface="Segoe UI"/>
              </a:rPr>
              <a:t>A finished task shows an outcome.</a:t>
            </a:r>
          </a:p>
          <a:p xmlns:a="http://schemas.openxmlformats.org/drawingml/2006/main">
            <a:pPr>
              <a:defRPr sz="2850" b="1">
                <a:solidFill>
                  <a:srgbClr val="007F78"/>
                </a:solidFill>
                <a:latin typeface="Segoe UI"/>
                <a:ea typeface="Segoe UI"/>
                <a:cs typeface="Segoe UI"/>
              </a:defRPr>
            </a:pPr>
            <a:r>
              <a:rPr sz="2850" b="1">
                <a:solidFill>
                  <a:srgbClr val="007F78"/>
                </a:solidFill>
                <a:latin typeface="Segoe UI"/>
                <a:ea typeface="Segoe UI"/>
                <a:cs typeface="Segoe UI"/>
              </a:rPr>
              <a:t>A transaction shows an event.</a:t>
            </a:r>
          </a:p>
        </p:txBody>
      </p:sp>
      <p:sp>
        <p:nvSpPr>
          <p:cNvPr id="3" name="">
            <a:extLst xmlns:a="http://schemas.openxmlformats.org/drawingml/2006/main">
              <a:ext uri="{FF2B5EF4-FFF2-40B4-BE49-F238E27FC236}">
                <a16:creationId xmlns:a16="http://schemas.microsoft.com/office/drawing/2014/main" id="{A9E1918B-2D1E-4681-82E9-E49C6D9AF384}"/>
              </a:ext>
            </a:extLst>
          </p:cNvPr>
          <p:cNvSpPr>
            <a:spLocks xmlns:a="http://schemas.openxmlformats.org/drawingml/2006/main" noGrp="1"/>
          </p:cNvSpPr>
          <p:nvPr/>
        </p:nvSpPr>
        <p:spPr>
          <a:xfrm xmlns:a="http://schemas.openxmlformats.org/drawingml/2006/main">
            <a:off x="685800" y="361950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191F28"/>
                </a:solidFill>
                <a:latin typeface="Segoe UI"/>
                <a:ea typeface="Segoe UI"/>
                <a:cs typeface="Segoe UI"/>
              </a:defRPr>
            </a:pPr>
            <a:r>
              <a:rPr sz="2700" b="0">
                <a:solidFill>
                  <a:srgbClr val="191F28"/>
                </a:solidFill>
                <a:latin typeface="Segoe UI"/>
                <a:ea typeface="Segoe UI"/>
                <a:cs typeface="Segoe UI"/>
              </a:rPr>
              <a:t>The thinking behind either can disappear.</a:t>
            </a:r>
          </a:p>
        </p:txBody>
      </p:sp>
      <p:sp>
        <p:nvSpPr>
          <p:cNvPr id="4" name="">
            <a:extLst xmlns:a="http://schemas.openxmlformats.org/drawingml/2006/main">
              <a:ext uri="{FF2B5EF4-FFF2-40B4-BE49-F238E27FC236}">
                <a16:creationId xmlns:a16="http://schemas.microsoft.com/office/drawing/2014/main" id="{DF527658-E950-4A73-A96D-3B1A0A69EB82}"/>
              </a:ext>
            </a:extLst>
          </p:cNvPr>
          <p:cNvSpPr>
            <a:spLocks xmlns:a="http://schemas.openxmlformats.org/drawingml/2006/main" noGrp="1"/>
          </p:cNvSpPr>
          <p:nvPr/>
        </p:nvSpPr>
        <p:spPr>
          <a:xfrm xmlns:a="http://schemas.openxmlformats.org/drawingml/2006/main">
            <a:off x="685800" y="4533900"/>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FOR THE RECORD keeps the intention, the result</a:t>
            </a:r>
          </a:p>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and a useful next action together.</a:t>
            </a:r>
          </a:p>
        </p:txBody>
      </p:sp>
      <p:sp>
        <p:nvSpPr>
          <p:cNvPr id="5" name="">
            <a:extLst xmlns:a="http://schemas.openxmlformats.org/drawingml/2006/main">
              <a:ext uri="{FF2B5EF4-FFF2-40B4-BE49-F238E27FC236}">
                <a16:creationId xmlns:a16="http://schemas.microsoft.com/office/drawing/2014/main" id="{14695DD0-74DE-4904-AD16-51863CDAB2B2}"/>
              </a:ext>
            </a:extLst>
          </p:cNvPr>
          <p:cNvSpPr>
            <a:spLocks xmlns:a="http://schemas.openxmlformats.org/drawingml/2006/main" noGrp="1"/>
          </p:cNvSpPr>
          <p:nvPr/>
        </p:nvSpPr>
        <p:spPr>
          <a:xfrm xmlns:a="http://schemas.openxmlformats.org/drawingml/2006/main">
            <a:off x="685800" y="5734050"/>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67085"/>
                </a:solidFill>
                <a:latin typeface="Segoe UI"/>
                <a:ea typeface="Segoe UI"/>
                <a:cs typeface="Segoe UI"/>
              </a:defRPr>
            </a:pPr>
            <a:r>
              <a:rPr sz="1500" b="0">
                <a:solidFill>
                  <a:srgbClr val="667085"/>
                </a:solidFill>
                <a:latin typeface="Segoe UI"/>
                <a:ea typeface="Segoe UI"/>
                <a:cs typeface="Segoe UI"/>
              </a:rPr>
              <a:t>Product hypothesis: a clear next action makes returning easier. Retention is not yet measured.</a:t>
            </a:r>
          </a:p>
        </p:txBody>
      </p:sp>
      <p:sp>
        <p:nvSpPr>
          <p:cNvPr id="6" name="">
            <a:extLst xmlns:a="http://schemas.openxmlformats.org/drawingml/2006/main">
              <a:ext uri="{FF2B5EF4-FFF2-40B4-BE49-F238E27FC236}">
                <a16:creationId xmlns:a16="http://schemas.microsoft.com/office/drawing/2014/main" id="{1B010E9E-1B3A-447F-8F70-2837CB7560A6}"/>
              </a:ext>
            </a:extLst>
          </p:cNvPr>
          <p:cNvSpPr>
            <a:spLocks xmlns:a="http://schemas.openxmlformats.org/drawingml/2006/main" noGrp="1"/>
          </p:cNvSpPr>
          <p:nvPr/>
        </p:nvSpPr>
        <p:spPr>
          <a:xfrm xmlns:a="http://schemas.openxmlformats.org/drawingml/2006/main">
            <a:off x="685800" y="628650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67085"/>
                </a:solidFill>
                <a:latin typeface="Segoe UI"/>
                <a:ea typeface="Segoe UI"/>
                <a:cs typeface="Segoe UI"/>
              </a:defRPr>
            </a:pPr>
            <a:r>
              <a:rPr sz="1200" b="0">
                <a:solidFill>
                  <a:srgbClr val="667085"/>
                </a:solidFill>
                <a:latin typeface="Segoe UI"/>
                <a:ea typeface="Segoe UI"/>
                <a:cs typeface="Segoe UI"/>
              </a:rPr>
              <a:t>FOR THE RECORD   /   02</a:t>
            </a:r>
          </a:p>
        </p:txBody>
      </p:sp>
    </p:spTree>
    <p:extLst>
      <p:ext uri="{BB962C8B-B14F-4D97-AF65-F5344CB8AC3E}">
        <p14:creationId xmlns:p14="http://schemas.microsoft.com/office/powerpoint/2010/main" val="1842076148"/>
      </p:ext>
    </p:extLst>
  </p:cSld>
</p:sld>
</file>

<file path=ppt/slides/slide3.xml><?xml version="1.0" encoding="utf-8"?>
<p:sld xmlns:p="http://schemas.openxmlformats.org/presentationml/2006/main">
  <p:cSld>
    <p:bg>
      <p:bgPr>
        <a:solidFill xmlns:a="http://schemas.openxmlformats.org/drawingml/2006/main">
          <a:srgbClr val="F4F5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66EE54-5E17-4FBF-924F-CCA93DCFECE5}"/>
              </a:ext>
            </a:extLst>
          </p:cNvPr>
          <p:cNvSpPr>
            <a:spLocks xmlns:a="http://schemas.openxmlformats.org/drawingml/2006/main" noGrp="1"/>
          </p:cNvSpPr>
          <p:nvPr/>
        </p:nvSpPr>
        <p:spPr>
          <a:xfrm xmlns:a="http://schemas.openxmlformats.org/drawingml/2006/main">
            <a:off x="685800" y="66675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191F28"/>
                </a:solidFill>
                <a:latin typeface="Segoe UI"/>
                <a:ea typeface="Segoe UI"/>
                <a:cs typeface="Segoe UI"/>
              </a:defRPr>
            </a:pPr>
            <a:r>
              <a:rPr sz="3825" b="1">
                <a:solidFill>
                  <a:srgbClr val="191F28"/>
                </a:solidFill>
                <a:latin typeface="Segoe UI"/>
                <a:ea typeface="Segoe UI"/>
                <a:cs typeface="Segoe UI"/>
              </a:rPr>
              <a:t>Leave tomorrow a starting point</a:t>
            </a:r>
          </a:p>
        </p:txBody>
      </p:sp>
      <p:sp>
        <p:nvSpPr>
          <p:cNvPr id="2" name="">
            <a:extLst xmlns:a="http://schemas.openxmlformats.org/drawingml/2006/main">
              <a:ext uri="{FF2B5EF4-FFF2-40B4-BE49-F238E27FC236}">
                <a16:creationId xmlns:a16="http://schemas.microsoft.com/office/drawing/2014/main" id="{C300DCBC-B865-40B8-864D-B94DBBE3FEAD}"/>
              </a:ext>
            </a:extLst>
          </p:cNvPr>
          <p:cNvSpPr>
            <a:spLocks xmlns:a="http://schemas.openxmlformats.org/drawingml/2006/main" noGrp="1"/>
          </p:cNvSpPr>
          <p:nvPr/>
        </p:nvSpPr>
        <p:spPr>
          <a:xfrm xmlns:a="http://schemas.openxmlformats.org/drawingml/2006/main">
            <a:off x="685800" y="2095500"/>
            <a:ext cx="590550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91F28"/>
                </a:solidFill>
                <a:latin typeface="Segoe UI"/>
                <a:ea typeface="Segoe UI"/>
                <a:cs typeface="Segoe UI"/>
              </a:defRPr>
            </a:pPr>
            <a:r>
              <a:rPr sz="2550" b="0">
                <a:solidFill>
                  <a:srgbClr val="191F28"/>
                </a:solidFill>
                <a:latin typeface="Segoe UI"/>
                <a:ea typeface="Segoe UI"/>
                <a:cs typeface="Segoe UI"/>
              </a:rPr>
              <a:t>Set an intention.</a:t>
            </a:r>
          </a:p>
          <a:p xmlns:a="http://schemas.openxmlformats.org/drawingml/2006/main">
            <a:pPr>
              <a:defRPr sz="2550" b="0">
                <a:solidFill>
                  <a:srgbClr val="191F28"/>
                </a:solidFill>
                <a:latin typeface="Segoe UI"/>
                <a:ea typeface="Segoe UI"/>
                <a:cs typeface="Segoe UI"/>
              </a:defRPr>
            </a:pPr>
            <a:r>
              <a:rPr sz="2550" b="0">
                <a:solidFill>
                  <a:srgbClr val="191F28"/>
                </a:solidFill>
                <a:latin typeface="Segoe UI"/>
                <a:ea typeface="Segoe UI"/>
                <a:cs typeface="Segoe UI"/>
              </a:rPr>
              <a:t>Do the work.</a:t>
            </a:r>
          </a:p>
          <a:p xmlns:a="http://schemas.openxmlformats.org/drawingml/2006/main">
            <a:pPr>
              <a:defRPr sz="2550" b="0">
                <a:solidFill>
                  <a:srgbClr val="191F28"/>
                </a:solidFill>
                <a:latin typeface="Segoe UI"/>
                <a:ea typeface="Segoe UI"/>
                <a:cs typeface="Segoe UI"/>
              </a:defRPr>
            </a:pPr>
            <a:r>
              <a:rPr sz="2550" b="0">
                <a:solidFill>
                  <a:srgbClr val="191F28"/>
                </a:solidFill>
                <a:latin typeface="Segoe UI"/>
                <a:ea typeface="Segoe UI"/>
                <a:cs typeface="Segoe UI"/>
              </a:rPr>
              <a:t>Save one next action.</a:t>
            </a:r>
          </a:p>
        </p:txBody>
      </p:sp>
      <p:sp>
        <p:nvSpPr>
          <p:cNvPr id="3" name="">
            <a:extLst xmlns:a="http://schemas.openxmlformats.org/drawingml/2006/main">
              <a:ext uri="{FF2B5EF4-FFF2-40B4-BE49-F238E27FC236}">
                <a16:creationId xmlns:a16="http://schemas.microsoft.com/office/drawing/2014/main" id="{2B9A749F-2F6D-4E2F-BDA6-2371AF5B4819}"/>
              </a:ext>
            </a:extLst>
          </p:cNvPr>
          <p:cNvSpPr>
            <a:spLocks xmlns:a="http://schemas.openxmlformats.org/drawingml/2006/main" noGrp="1"/>
          </p:cNvSpPr>
          <p:nvPr/>
        </p:nvSpPr>
        <p:spPr>
          <a:xfrm xmlns:a="http://schemas.openxmlformats.org/drawingml/2006/main">
            <a:off x="685800" y="4200525"/>
            <a:ext cx="5810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007F78"/>
                </a:solidFill>
                <a:latin typeface="Segoe UI"/>
                <a:ea typeface="Segoe UI"/>
                <a:cs typeface="Segoe UI"/>
              </a:defRPr>
            </a:pPr>
            <a:r>
              <a:rPr sz="2550" b="1">
                <a:solidFill>
                  <a:srgbClr val="007F78"/>
                </a:solidFill>
                <a:latin typeface="Segoe UI"/>
                <a:ea typeface="Segoe UI"/>
                <a:cs typeface="Segoe UI"/>
              </a:rPr>
              <a:t>Return to your own words,</a:t>
            </a:r>
          </a:p>
          <a:p xmlns:a="http://schemas.openxmlformats.org/drawingml/2006/main">
            <a:pPr>
              <a:defRPr sz="2550" b="1">
                <a:solidFill>
                  <a:srgbClr val="007F78"/>
                </a:solidFill>
                <a:latin typeface="Segoe UI"/>
                <a:ea typeface="Segoe UI"/>
                <a:cs typeface="Segoe UI"/>
              </a:defRPr>
            </a:pPr>
            <a:r>
              <a:rPr sz="2550" b="1">
                <a:solidFill>
                  <a:srgbClr val="007F78"/>
                </a:solidFill>
                <a:latin typeface="Segoe UI"/>
                <a:ea typeface="Segoe UI"/>
                <a:cs typeface="Segoe UI"/>
              </a:rPr>
              <a:t>already filled in.</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f3383d29d16457d"/>
          <a:stretch xmlns:a="http://schemas.openxmlformats.org/drawingml/2006/main"/>
        </p:blipFill>
        <p:spPr>
          <a:xfrm xmlns:a="http://schemas.openxmlformats.org/drawingml/2006/main">
            <a:off x="6877050" y="2107406"/>
            <a:ext cx="4667250" cy="350043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2F04EDD-FA88-4E82-976F-7BDBCC045D11}"/>
              </a:ext>
            </a:extLst>
          </p:cNvPr>
          <p:cNvSpPr>
            <a:spLocks xmlns:a="http://schemas.openxmlformats.org/drawingml/2006/main" noGrp="1"/>
          </p:cNvSpPr>
          <p:nvPr/>
        </p:nvSpPr>
        <p:spPr>
          <a:xfrm xmlns:a="http://schemas.openxmlformats.org/drawingml/2006/main">
            <a:off x="7048500" y="5905500"/>
            <a:ext cx="4429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667085"/>
                </a:solidFill>
                <a:latin typeface="Segoe UI"/>
                <a:ea typeface="Segoe UI"/>
                <a:cs typeface="Segoe UI"/>
              </a:defRPr>
            </a:pPr>
            <a:r>
              <a:rPr sz="1125" b="1">
                <a:solidFill>
                  <a:srgbClr val="667085"/>
                </a:solidFill>
                <a:latin typeface="Segoe UI"/>
                <a:ea typeface="Segoe UI"/>
                <a:cs typeface="Segoe UI"/>
              </a:rPr>
              <a:t>ACTUAL ANDROID DEMO  /  SAVED NEXT ACTION</a:t>
            </a:r>
          </a:p>
        </p:txBody>
      </p:sp>
      <p:sp>
        <p:nvSpPr>
          <p:cNvPr id="6" name="">
            <a:extLst xmlns:a="http://schemas.openxmlformats.org/drawingml/2006/main">
              <a:ext uri="{FF2B5EF4-FFF2-40B4-BE49-F238E27FC236}">
                <a16:creationId xmlns:a16="http://schemas.microsoft.com/office/drawing/2014/main" id="{8E200C68-A765-4368-8728-BA172FAAE366}"/>
              </a:ext>
            </a:extLst>
          </p:cNvPr>
          <p:cNvSpPr>
            <a:spLocks xmlns:a="http://schemas.openxmlformats.org/drawingml/2006/main" noGrp="1"/>
          </p:cNvSpPr>
          <p:nvPr/>
        </p:nvSpPr>
        <p:spPr>
          <a:xfrm xmlns:a="http://schemas.openxmlformats.org/drawingml/2006/main">
            <a:off x="685800" y="628650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67085"/>
                </a:solidFill>
                <a:latin typeface="Segoe UI"/>
                <a:ea typeface="Segoe UI"/>
                <a:cs typeface="Segoe UI"/>
              </a:defRPr>
            </a:pPr>
            <a:r>
              <a:rPr sz="1200" b="0">
                <a:solidFill>
                  <a:srgbClr val="667085"/>
                </a:solidFill>
                <a:latin typeface="Segoe UI"/>
                <a:ea typeface="Segoe UI"/>
                <a:cs typeface="Segoe UI"/>
              </a:rPr>
              <a:t>FOR THE RECORD   /   03</a:t>
            </a:r>
          </a:p>
        </p:txBody>
      </p:sp>
    </p:spTree>
    <p:extLst>
      <p:ext uri="{BB962C8B-B14F-4D97-AF65-F5344CB8AC3E}">
        <p14:creationId xmlns:p14="http://schemas.microsoft.com/office/powerpoint/2010/main" val="127440215"/>
      </p:ext>
    </p:extLst>
  </p:cSld>
</p:sld>
</file>

<file path=ppt/slides/slide4.xml><?xml version="1.0" encoding="utf-8"?>
<p:sld xmlns:p="http://schemas.openxmlformats.org/presentationml/2006/main">
  <p:cSld>
    <p:bg>
      <p:bgPr>
        <a:solidFill xmlns:a="http://schemas.openxmlformats.org/drawingml/2006/main">
          <a:srgbClr val="191F2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9BF484-BD22-407A-A93D-3AEC3808D6EA}"/>
              </a:ext>
            </a:extLst>
          </p:cNvPr>
          <p:cNvSpPr>
            <a:spLocks xmlns:a="http://schemas.openxmlformats.org/drawingml/2006/main" noGrp="1"/>
          </p:cNvSpPr>
          <p:nvPr/>
        </p:nvSpPr>
        <p:spPr>
          <a:xfrm xmlns:a="http://schemas.openxmlformats.org/drawingml/2006/main">
            <a:off x="685800" y="666750"/>
            <a:ext cx="1085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75" b="1">
                <a:solidFill>
                  <a:srgbClr val="FFFFFF"/>
                </a:solidFill>
                <a:latin typeface="Segoe UI"/>
                <a:ea typeface="Segoe UI"/>
                <a:cs typeface="Segoe UI"/>
              </a:defRPr>
            </a:pPr>
            <a:r>
              <a:rPr sz="3675" b="1">
                <a:solidFill>
                  <a:srgbClr val="FFFFFF"/>
                </a:solidFill>
                <a:latin typeface="Segoe UI"/>
                <a:ea typeface="Segoe UI"/>
                <a:cs typeface="Segoe UI"/>
              </a:rPr>
              <a:t>Keep the reason. Return with context.</a:t>
            </a:r>
          </a:p>
        </p:txBody>
      </p:sp>
      <p:sp>
        <p:nvSpPr>
          <p:cNvPr id="2" name="">
            <a:extLst xmlns:a="http://schemas.openxmlformats.org/drawingml/2006/main">
              <a:ext uri="{FF2B5EF4-FFF2-40B4-BE49-F238E27FC236}">
                <a16:creationId xmlns:a16="http://schemas.microsoft.com/office/drawing/2014/main" id="{F96DD547-A4FE-444C-B55A-76A0E2F3180A}"/>
              </a:ext>
            </a:extLst>
          </p:cNvPr>
          <p:cNvSpPr>
            <a:spLocks xmlns:a="http://schemas.openxmlformats.org/drawingml/2006/main" noGrp="1"/>
          </p:cNvSpPr>
          <p:nvPr/>
        </p:nvSpPr>
        <p:spPr>
          <a:xfrm xmlns:a="http://schemas.openxmlformats.org/drawingml/2006/main">
            <a:off x="685800" y="2200275"/>
            <a:ext cx="5238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FFFFF"/>
                </a:solidFill>
                <a:latin typeface="Segoe UI"/>
                <a:ea typeface="Segoe UI"/>
                <a:cs typeface="Segoe UI"/>
              </a:defRPr>
            </a:pPr>
            <a:r>
              <a:rPr sz="2400" b="0">
                <a:solidFill>
                  <a:srgbClr val="FFFFFF"/>
                </a:solidFill>
                <a:latin typeface="Segoe UI"/>
                <a:ea typeface="Segoe UI"/>
                <a:cs typeface="Segoe UI"/>
              </a:rPr>
              <a:t>A saved reflection keeps</a:t>
            </a:r>
          </a:p>
          <a:p xmlns:a="http://schemas.openxmlformats.org/drawingml/2006/main">
            <a:pPr>
              <a:defRPr sz="2400" b="0">
                <a:solidFill>
                  <a:srgbClr val="FFFFFF"/>
                </a:solidFill>
                <a:latin typeface="Segoe UI"/>
                <a:ea typeface="Segoe UI"/>
                <a:cs typeface="Segoe UI"/>
              </a:defRPr>
            </a:pPr>
            <a:r>
              <a:rPr sz="2400" b="0">
                <a:solidFill>
                  <a:srgbClr val="FFFFFF"/>
                </a:solidFill>
                <a:latin typeface="Segoe UI"/>
                <a:ea typeface="Segoe UI"/>
                <a:cs typeface="Segoe UI"/>
              </a:rPr>
              <a:t>your reason and original plan</a:t>
            </a:r>
          </a:p>
          <a:p xmlns:a="http://schemas.openxmlformats.org/drawingml/2006/main">
            <a:pPr>
              <a:defRPr sz="2400" b="0">
                <a:solidFill>
                  <a:srgbClr val="FFFFFF"/>
                </a:solidFill>
                <a:latin typeface="Segoe UI"/>
                <a:ea typeface="Segoe UI"/>
                <a:cs typeface="Segoe UI"/>
              </a:defRPr>
            </a:pPr>
            <a:r>
              <a:rPr sz="2400" b="0">
                <a:solidFill>
                  <a:srgbClr val="FFFFFF"/>
                </a:solidFill>
                <a:latin typeface="Segoe UI"/>
                <a:ea typeface="Segoe UI"/>
                <a:cs typeface="Segoe UI"/>
              </a:rPr>
              <a:t>close to the event.</a:t>
            </a:r>
          </a:p>
        </p:txBody>
      </p:sp>
      <p:sp>
        <p:nvSpPr>
          <p:cNvPr id="3" name="">
            <a:extLst xmlns:a="http://schemas.openxmlformats.org/drawingml/2006/main">
              <a:ext uri="{FF2B5EF4-FFF2-40B4-BE49-F238E27FC236}">
                <a16:creationId xmlns:a16="http://schemas.microsoft.com/office/drawing/2014/main" id="{470FA950-A3C8-43AC-951E-D3E5B003EAD3}"/>
              </a:ext>
            </a:extLst>
          </p:cNvPr>
          <p:cNvSpPr>
            <a:spLocks xmlns:a="http://schemas.openxmlformats.org/drawingml/2006/main" noGrp="1"/>
          </p:cNvSpPr>
          <p:nvPr/>
        </p:nvSpPr>
        <p:spPr>
          <a:xfrm xmlns:a="http://schemas.openxmlformats.org/drawingml/2006/main">
            <a:off x="685800" y="4333875"/>
            <a:ext cx="514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D5F56B"/>
                </a:solidFill>
                <a:latin typeface="Segoe UI"/>
                <a:ea typeface="Segoe UI"/>
                <a:cs typeface="Segoe UI"/>
              </a:defRPr>
            </a:pPr>
            <a:r>
              <a:rPr sz="2400" b="1">
                <a:solidFill>
                  <a:srgbClr val="D5F56B"/>
                </a:solidFill>
                <a:latin typeface="Segoe UI"/>
                <a:ea typeface="Segoe UI"/>
                <a:cs typeface="Segoe UI"/>
              </a:rPr>
              <a:t>Reopen it later.</a:t>
            </a:r>
          </a:p>
          <a:p xmlns:a="http://schemas.openxmlformats.org/drawingml/2006/main">
            <a:pPr>
              <a:defRPr sz="2400" b="1">
                <a:solidFill>
                  <a:srgbClr val="D5F56B"/>
                </a:solidFill>
                <a:latin typeface="Segoe UI"/>
                <a:ea typeface="Segoe UI"/>
                <a:cs typeface="Segoe UI"/>
              </a:defRPr>
            </a:pPr>
            <a:r>
              <a:rPr sz="2400" b="1">
                <a:solidFill>
                  <a:srgbClr val="D5F56B"/>
                </a:solidFill>
                <a:latin typeface="Segoe UI"/>
                <a:ea typeface="Segoe UI"/>
                <a:cs typeface="Segoe UI"/>
              </a:rPr>
              <a:t>Add what you learned.</a:t>
            </a:r>
          </a:p>
        </p:txBody>
      </p:sp>
      <p:sp>
        <p:nvSpPr>
          <p:cNvPr id="4" name="">
            <a:extLst xmlns:a="http://schemas.openxmlformats.org/drawingml/2006/main">
              <a:ext uri="{FF2B5EF4-FFF2-40B4-BE49-F238E27FC236}">
                <a16:creationId xmlns:a16="http://schemas.microsoft.com/office/drawing/2014/main" id="{9004E51F-5A09-4636-A853-E95EF4A9EC2E}"/>
              </a:ext>
            </a:extLst>
          </p:cNvPr>
          <p:cNvSpPr>
            <a:spLocks xmlns:a="http://schemas.openxmlformats.org/drawingml/2006/main" noGrp="1"/>
          </p:cNvSpPr>
          <p:nvPr/>
        </p:nvSpPr>
        <p:spPr>
          <a:xfrm xmlns:a="http://schemas.openxmlformats.org/drawingml/2006/main">
            <a:off x="6191250" y="1695450"/>
            <a:ext cx="5238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FF6B4A"/>
                </a:solidFill>
                <a:latin typeface="Segoe UI"/>
                <a:ea typeface="Segoe UI"/>
                <a:cs typeface="Segoe UI"/>
              </a:defRPr>
            </a:pPr>
            <a:r>
              <a:rPr sz="1650" b="1">
                <a:solidFill>
                  <a:srgbClr val="FF6B4A"/>
                </a:solidFill>
                <a:latin typeface="Segoe UI"/>
                <a:ea typeface="Segoe UI"/>
                <a:cs typeface="Segoe UI"/>
              </a:rPr>
              <a:t>SAMPLE DATA  /  RECORDED APP</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f1d9ffe0848c4435"/>
          <a:stretch xmlns:a="http://schemas.openxmlformats.org/drawingml/2006/main"/>
        </p:blipFill>
        <p:spPr>
          <a:xfrm xmlns:a="http://schemas.openxmlformats.org/drawingml/2006/main">
            <a:off x="6193167" y="2133600"/>
            <a:ext cx="5234915" cy="39909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878F9A1-3371-4B6F-99C5-A05CB8C61515}"/>
              </a:ext>
            </a:extLst>
          </p:cNvPr>
          <p:cNvSpPr>
            <a:spLocks xmlns:a="http://schemas.openxmlformats.org/drawingml/2006/main" noGrp="1"/>
          </p:cNvSpPr>
          <p:nvPr/>
        </p:nvSpPr>
        <p:spPr>
          <a:xfrm xmlns:a="http://schemas.openxmlformats.org/drawingml/2006/main">
            <a:off x="685800" y="5791200"/>
            <a:ext cx="5095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FFFFFF"/>
                </a:solidFill>
                <a:latin typeface="Segoe UI"/>
                <a:ea typeface="Segoe UI"/>
                <a:cs typeface="Segoe UI"/>
              </a:defRPr>
            </a:pPr>
            <a:r>
              <a:rPr sz="1275" b="0">
                <a:solidFill>
                  <a:srgbClr val="FFFFFF"/>
                </a:solidFill>
                <a:latin typeface="Segoe UI"/>
                <a:ea typeface="Segoe UI"/>
                <a:cs typeface="Segoe UI"/>
              </a:rPr>
              <a:t>Native MWA + public RPC. Physical Seeker and live activity remain to be verified.</a:t>
            </a:r>
          </a:p>
        </p:txBody>
      </p:sp>
      <p:sp>
        <p:nvSpPr>
          <p:cNvPr id="7" name="">
            <a:extLst xmlns:a="http://schemas.openxmlformats.org/drawingml/2006/main">
              <a:ext uri="{FF2B5EF4-FFF2-40B4-BE49-F238E27FC236}">
                <a16:creationId xmlns:a16="http://schemas.microsoft.com/office/drawing/2014/main" id="{F8C7AF48-A2A7-41D3-9753-A71E410E2C3C}"/>
              </a:ext>
            </a:extLst>
          </p:cNvPr>
          <p:cNvSpPr>
            <a:spLocks xmlns:a="http://schemas.openxmlformats.org/drawingml/2006/main" noGrp="1"/>
          </p:cNvSpPr>
          <p:nvPr/>
        </p:nvSpPr>
        <p:spPr>
          <a:xfrm xmlns:a="http://schemas.openxmlformats.org/drawingml/2006/main">
            <a:off x="685800" y="628650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D5F56B"/>
                </a:solidFill>
                <a:latin typeface="Segoe UI"/>
                <a:ea typeface="Segoe UI"/>
                <a:cs typeface="Segoe UI"/>
              </a:defRPr>
            </a:pPr>
            <a:r>
              <a:rPr sz="1200" b="0">
                <a:solidFill>
                  <a:srgbClr val="D5F56B"/>
                </a:solidFill>
                <a:latin typeface="Segoe UI"/>
                <a:ea typeface="Segoe UI"/>
                <a:cs typeface="Segoe UI"/>
              </a:rPr>
              <a:t>FOR THE RECORD   /   04</a:t>
            </a:r>
          </a:p>
        </p:txBody>
      </p:sp>
    </p:spTree>
    <p:extLst>
      <p:ext uri="{BB962C8B-B14F-4D97-AF65-F5344CB8AC3E}">
        <p14:creationId xmlns:p14="http://schemas.microsoft.com/office/powerpoint/2010/main" val="51269245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A4DDE56-6CA3-48EB-B2E2-6271CB8F06AC}"/>
              </a:ext>
            </a:extLst>
          </p:cNvPr>
          <p:cNvSpPr>
            <a:spLocks xmlns:a="http://schemas.openxmlformats.org/drawingml/2006/main" noGrp="1"/>
          </p:cNvSpPr>
          <p:nvPr/>
        </p:nvSpPr>
        <p:spPr>
          <a:xfrm xmlns:a="http://schemas.openxmlformats.org/drawingml/2006/main">
            <a:off x="685800" y="6667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050" b="1">
                <a:solidFill>
                  <a:srgbClr val="191F28"/>
                </a:solidFill>
                <a:latin typeface="Segoe UI"/>
                <a:ea typeface="Segoe UI"/>
                <a:cs typeface="Segoe UI"/>
              </a:defRPr>
            </a:pPr>
            <a:r>
              <a:rPr sz="4050" b="1">
                <a:solidFill>
                  <a:srgbClr val="191F28"/>
                </a:solidFill>
                <a:latin typeface="Segoe UI"/>
                <a:ea typeface="Segoe UI"/>
                <a:cs typeface="Segoe UI"/>
              </a:rPr>
              <a:t>Clear data boundaries</a:t>
            </a:r>
          </a:p>
        </p:txBody>
      </p:sp>
      <p:sp>
        <p:nvSpPr>
          <p:cNvPr id="2" name="">
            <a:extLst xmlns:a="http://schemas.openxmlformats.org/drawingml/2006/main">
              <a:ext uri="{FF2B5EF4-FFF2-40B4-BE49-F238E27FC236}">
                <a16:creationId xmlns:a16="http://schemas.microsoft.com/office/drawing/2014/main" id="{2D5A23A9-1CAE-4598-80D5-B637198EA6C3}"/>
              </a:ext>
            </a:extLst>
          </p:cNvPr>
          <p:cNvSpPr>
            <a:spLocks xmlns:a="http://schemas.openxmlformats.org/drawingml/2006/main" noGrp="1"/>
          </p:cNvSpPr>
          <p:nvPr/>
        </p:nvSpPr>
        <p:spPr>
          <a:xfrm xmlns:a="http://schemas.openxmlformats.org/drawingml/2006/main">
            <a:off x="685800" y="2038350"/>
            <a:ext cx="4714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007F78"/>
                </a:solidFill>
                <a:latin typeface="Segoe UI"/>
                <a:ea typeface="Segoe UI"/>
                <a:cs typeface="Segoe UI"/>
              </a:defRPr>
            </a:pPr>
            <a:r>
              <a:rPr sz="2700" b="1">
                <a:solidFill>
                  <a:srgbClr val="007F78"/>
                </a:solidFill>
                <a:latin typeface="Segoe UI"/>
                <a:ea typeface="Segoe UI"/>
                <a:cs typeface="Segoe UI"/>
              </a:rPr>
              <a:t>On the device</a:t>
            </a:r>
          </a:p>
        </p:txBody>
      </p:sp>
      <p:sp>
        <p:nvSpPr>
          <p:cNvPr id="3" name="">
            <a:extLst xmlns:a="http://schemas.openxmlformats.org/drawingml/2006/main">
              <a:ext uri="{FF2B5EF4-FFF2-40B4-BE49-F238E27FC236}">
                <a16:creationId xmlns:a16="http://schemas.microsoft.com/office/drawing/2014/main" id="{FE306830-5AC0-402A-975F-F2EE9B7075CD}"/>
              </a:ext>
            </a:extLst>
          </p:cNvPr>
          <p:cNvSpPr>
            <a:spLocks xmlns:a="http://schemas.openxmlformats.org/drawingml/2006/main" noGrp="1"/>
          </p:cNvSpPr>
          <p:nvPr/>
        </p:nvSpPr>
        <p:spPr>
          <a:xfrm xmlns:a="http://schemas.openxmlformats.org/drawingml/2006/main">
            <a:off x="685800" y="2857500"/>
            <a:ext cx="48577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SQLite keeps work records</a:t>
            </a:r>
          </a:p>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and private reflections.</a:t>
            </a:r>
          </a:p>
          <a:p xmlns:a="http://schemas.openxmlformats.org/drawingml/2006/main">
            <a:r>
              <a:t/>
            </a:r>
          </a:p>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JSON export gives users</a:t>
            </a:r>
          </a:p>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a portable copy.</a:t>
            </a:r>
          </a:p>
        </p:txBody>
      </p:sp>
      <p:sp>
        <p:nvSpPr>
          <p:cNvPr id="4" name="">
            <a:extLst xmlns:a="http://schemas.openxmlformats.org/drawingml/2006/main">
              <a:ext uri="{FF2B5EF4-FFF2-40B4-BE49-F238E27FC236}">
                <a16:creationId xmlns:a16="http://schemas.microsoft.com/office/drawing/2014/main" id="{6C485978-CBC2-454A-8728-F80B0398354A}"/>
              </a:ext>
            </a:extLst>
          </p:cNvPr>
          <p:cNvSpPr>
            <a:spLocks xmlns:a="http://schemas.openxmlformats.org/drawingml/2006/main" noGrp="1"/>
          </p:cNvSpPr>
          <p:nvPr/>
        </p:nvSpPr>
        <p:spPr>
          <a:xfrm xmlns:a="http://schemas.openxmlformats.org/drawingml/2006/main">
            <a:off x="6438900" y="2038350"/>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007F78"/>
                </a:solidFill>
                <a:latin typeface="Segoe UI"/>
                <a:ea typeface="Segoe UI"/>
                <a:cs typeface="Segoe UI"/>
              </a:defRPr>
            </a:pPr>
            <a:r>
              <a:rPr sz="2700" b="1">
                <a:solidFill>
                  <a:srgbClr val="007F78"/>
                </a:solidFill>
                <a:latin typeface="Segoe UI"/>
                <a:ea typeface="Segoe UI"/>
                <a:cs typeface="Segoe UI"/>
              </a:rPr>
              <a:t>Direct wallet reads</a:t>
            </a:r>
          </a:p>
        </p:txBody>
      </p:sp>
      <p:sp>
        <p:nvSpPr>
          <p:cNvPr id="5" name="">
            <a:extLst xmlns:a="http://schemas.openxmlformats.org/drawingml/2006/main">
              <a:ext uri="{FF2B5EF4-FFF2-40B4-BE49-F238E27FC236}">
                <a16:creationId xmlns:a16="http://schemas.microsoft.com/office/drawing/2014/main" id="{C3D2C96C-B8FB-4CCA-82CE-013EF02F6BD9}"/>
              </a:ext>
            </a:extLst>
          </p:cNvPr>
          <p:cNvSpPr>
            <a:spLocks xmlns:a="http://schemas.openxmlformats.org/drawingml/2006/main" noGrp="1"/>
          </p:cNvSpPr>
          <p:nvPr/>
        </p:nvSpPr>
        <p:spPr>
          <a:xfrm xmlns:a="http://schemas.openxmlformats.org/drawingml/2006/main">
            <a:off x="6438900" y="2857500"/>
            <a:ext cx="47625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MWA supplies the selected</a:t>
            </a:r>
          </a:p>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public wallet account.</a:t>
            </a:r>
          </a:p>
          <a:p xmlns:a="http://schemas.openxmlformats.org/drawingml/2006/main">
            <a:r>
              <a:t/>
            </a:r>
          </a:p>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Public RPC supplies</a:t>
            </a:r>
          </a:p>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finalized activity.</a:t>
            </a:r>
          </a:p>
        </p:txBody>
      </p:sp>
      <p:sp>
        <p:nvSpPr>
          <p:cNvPr id="6" name="">
            <a:extLst xmlns:a="http://schemas.openxmlformats.org/drawingml/2006/main">
              <a:ext uri="{FF2B5EF4-FFF2-40B4-BE49-F238E27FC236}">
                <a16:creationId xmlns:a16="http://schemas.microsoft.com/office/drawing/2014/main" id="{D25723E7-40C2-4800-A3F4-3051BCB4E21A}"/>
              </a:ext>
            </a:extLst>
          </p:cNvPr>
          <p:cNvSpPr>
            <a:spLocks xmlns:a="http://schemas.openxmlformats.org/drawingml/2006/main" noGrp="1"/>
          </p:cNvSpPr>
          <p:nvPr/>
        </p:nvSpPr>
        <p:spPr>
          <a:xfrm xmlns:a="http://schemas.openxmlformats.org/drawingml/2006/main">
            <a:off x="685800" y="57054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667085"/>
                </a:solidFill>
                <a:latin typeface="Segoe UI"/>
                <a:ea typeface="Segoe UI"/>
                <a:cs typeface="Segoe UI"/>
              </a:defRPr>
            </a:pPr>
            <a:r>
              <a:rPr sz="1650" b="0">
                <a:solidFill>
                  <a:srgbClr val="667085"/>
                </a:solidFill>
                <a:latin typeface="Segoe UI"/>
                <a:ea typeface="Segoe UI"/>
                <a:cs typeface="Segoe UI"/>
              </a:rPr>
              <a:t>No paid server is required for the journal. Optional shared rooms and purchases remain separate.</a:t>
            </a:r>
          </a:p>
        </p:txBody>
      </p:sp>
      <p:sp>
        <p:nvSpPr>
          <p:cNvPr id="7" name="">
            <a:extLst xmlns:a="http://schemas.openxmlformats.org/drawingml/2006/main">
              <a:ext uri="{FF2B5EF4-FFF2-40B4-BE49-F238E27FC236}">
                <a16:creationId xmlns:a16="http://schemas.microsoft.com/office/drawing/2014/main" id="{F0B1D377-5E01-4C6E-B5DB-ED9E25F50DB5}"/>
              </a:ext>
            </a:extLst>
          </p:cNvPr>
          <p:cNvSpPr>
            <a:spLocks xmlns:a="http://schemas.openxmlformats.org/drawingml/2006/main" noGrp="1"/>
          </p:cNvSpPr>
          <p:nvPr/>
        </p:nvSpPr>
        <p:spPr>
          <a:xfrm xmlns:a="http://schemas.openxmlformats.org/drawingml/2006/main">
            <a:off x="685800" y="628650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67085"/>
                </a:solidFill>
                <a:latin typeface="Segoe UI"/>
                <a:ea typeface="Segoe UI"/>
                <a:cs typeface="Segoe UI"/>
              </a:defRPr>
            </a:pPr>
            <a:r>
              <a:rPr sz="1200" b="0">
                <a:solidFill>
                  <a:srgbClr val="667085"/>
                </a:solidFill>
                <a:latin typeface="Segoe UI"/>
                <a:ea typeface="Segoe UI"/>
                <a:cs typeface="Segoe UI"/>
              </a:rPr>
              <a:t>FOR THE RECORD   /   05</a:t>
            </a:r>
          </a:p>
        </p:txBody>
      </p:sp>
    </p:spTree>
    <p:extLst>
      <p:ext uri="{BB962C8B-B14F-4D97-AF65-F5344CB8AC3E}">
        <p14:creationId xmlns:p14="http://schemas.microsoft.com/office/powerpoint/2010/main" val="2040531904"/>
      </p:ext>
    </p:extLst>
  </p:cSld>
</p:sld>
</file>

<file path=ppt/slides/slide6.xml><?xml version="1.0" encoding="utf-8"?>
<p:sld xmlns:p="http://schemas.openxmlformats.org/presentationml/2006/main">
  <p:cSld>
    <p:bg>
      <p:bgPr>
        <a:solidFill xmlns:a="http://schemas.openxmlformats.org/drawingml/2006/main">
          <a:srgbClr val="F4F5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B02B898-7974-4F5D-86F3-5116A96F14DD}"/>
              </a:ext>
            </a:extLst>
          </p:cNvPr>
          <p:cNvSpPr>
            <a:spLocks xmlns:a="http://schemas.openxmlformats.org/drawingml/2006/main" noGrp="1"/>
          </p:cNvSpPr>
          <p:nvPr/>
        </p:nvSpPr>
        <p:spPr>
          <a:xfrm xmlns:a="http://schemas.openxmlformats.org/drawingml/2006/main">
            <a:off x="685800" y="628650"/>
            <a:ext cx="685800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75" b="1">
                <a:solidFill>
                  <a:srgbClr val="191F28"/>
                </a:solidFill>
                <a:latin typeface="Segoe UI"/>
                <a:ea typeface="Segoe UI"/>
                <a:cs typeface="Segoe UI"/>
              </a:defRPr>
            </a:pPr>
            <a:r>
              <a:rPr sz="3975" b="1">
                <a:solidFill>
                  <a:srgbClr val="191F28"/>
                </a:solidFill>
                <a:latin typeface="Segoe UI"/>
                <a:ea typeface="Segoe UI"/>
                <a:cs typeface="Segoe UI"/>
              </a:rPr>
              <a:t>An approachable</a:t>
            </a:r>
          </a:p>
          <a:p xmlns:a="http://schemas.openxmlformats.org/drawingml/2006/main">
            <a:pPr>
              <a:defRPr sz="3975" b="1">
                <a:solidFill>
                  <a:srgbClr val="191F28"/>
                </a:solidFill>
                <a:latin typeface="Segoe UI"/>
                <a:ea typeface="Segoe UI"/>
                <a:cs typeface="Segoe UI"/>
              </a:defRPr>
            </a:pPr>
            <a:r>
              <a:rPr sz="3975" b="1">
                <a:solidFill>
                  <a:srgbClr val="191F28"/>
                </a:solidFill>
                <a:latin typeface="Segoe UI"/>
                <a:ea typeface="Segoe UI"/>
                <a:cs typeface="Segoe UI"/>
              </a:rPr>
              <a:t>phone experience</a:t>
            </a:r>
          </a:p>
        </p:txBody>
      </p:sp>
      <p:sp>
        <p:nvSpPr>
          <p:cNvPr id="2" name="">
            <a:extLst xmlns:a="http://schemas.openxmlformats.org/drawingml/2006/main">
              <a:ext uri="{FF2B5EF4-FFF2-40B4-BE49-F238E27FC236}">
                <a16:creationId xmlns:a16="http://schemas.microsoft.com/office/drawing/2014/main" id="{42587C2A-BBD2-4D72-8BF6-A076B96AD785}"/>
              </a:ext>
            </a:extLst>
          </p:cNvPr>
          <p:cNvSpPr>
            <a:spLocks xmlns:a="http://schemas.openxmlformats.org/drawingml/2006/main" noGrp="1"/>
          </p:cNvSpPr>
          <p:nvPr/>
        </p:nvSpPr>
        <p:spPr>
          <a:xfrm xmlns:a="http://schemas.openxmlformats.org/drawingml/2006/main">
            <a:off x="685800" y="2428875"/>
            <a:ext cx="6572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1F28"/>
                </a:solidFill>
                <a:latin typeface="Segoe UI"/>
                <a:ea typeface="Segoe UI"/>
                <a:cs typeface="Segoe UI"/>
              </a:defRPr>
            </a:pPr>
            <a:r>
              <a:rPr sz="2175" b="0">
                <a:solidFill>
                  <a:srgbClr val="191F28"/>
                </a:solidFill>
                <a:latin typeface="Segoe UI"/>
                <a:ea typeface="Segoe UI"/>
                <a:cs typeface="Segoe UI"/>
              </a:rPr>
              <a:t>English by default. Eight language choices.</a:t>
            </a:r>
          </a:p>
          <a:p xmlns:a="http://schemas.openxmlformats.org/drawingml/2006/main">
            <a:pPr>
              <a:defRPr sz="2175" b="0">
                <a:solidFill>
                  <a:srgbClr val="191F28"/>
                </a:solidFill>
                <a:latin typeface="Segoe UI"/>
                <a:ea typeface="Segoe UI"/>
                <a:cs typeface="Segoe UI"/>
              </a:defRPr>
            </a:pPr>
            <a:r>
              <a:rPr sz="2175" b="0">
                <a:solidFill>
                  <a:srgbClr val="191F28"/>
                </a:solidFill>
                <a:latin typeface="Segoe UI"/>
                <a:ea typeface="Segoe UI"/>
                <a:cs typeface="Segoe UI"/>
              </a:rPr>
              <a:t>Your own writing keeps its language.</a:t>
            </a:r>
          </a:p>
        </p:txBody>
      </p:sp>
      <p:sp>
        <p:nvSpPr>
          <p:cNvPr id="3" name="">
            <a:extLst xmlns:a="http://schemas.openxmlformats.org/drawingml/2006/main">
              <a:ext uri="{FF2B5EF4-FFF2-40B4-BE49-F238E27FC236}">
                <a16:creationId xmlns:a16="http://schemas.microsoft.com/office/drawing/2014/main" id="{5A2B9BB1-54A4-4ADB-81B4-511B240AC262}"/>
              </a:ext>
            </a:extLst>
          </p:cNvPr>
          <p:cNvSpPr>
            <a:spLocks xmlns:a="http://schemas.openxmlformats.org/drawingml/2006/main" noGrp="1"/>
          </p:cNvSpPr>
          <p:nvPr/>
        </p:nvSpPr>
        <p:spPr>
          <a:xfrm xmlns:a="http://schemas.openxmlformats.org/drawingml/2006/main">
            <a:off x="685800" y="3952875"/>
            <a:ext cx="6572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91F28"/>
                </a:solidFill>
                <a:latin typeface="Segoe UI"/>
                <a:ea typeface="Segoe UI"/>
                <a:cs typeface="Segoe UI"/>
              </a:defRPr>
            </a:pPr>
            <a:r>
              <a:rPr sz="2100" b="0">
                <a:solidFill>
                  <a:srgbClr val="191F28"/>
                </a:solidFill>
                <a:latin typeface="Segoe UI"/>
                <a:ea typeface="Segoe UI"/>
                <a:cs typeface="Segoe UI"/>
              </a:rPr>
              <a:t>Optional motion, haptics and reminders.</a:t>
            </a:r>
          </a:p>
          <a:p xmlns:a="http://schemas.openxmlformats.org/drawingml/2006/main">
            <a:pPr>
              <a:defRPr sz="2100" b="0">
                <a:solidFill>
                  <a:srgbClr val="191F28"/>
                </a:solidFill>
                <a:latin typeface="Segoe UI"/>
                <a:ea typeface="Segoe UI"/>
                <a:cs typeface="Segoe UI"/>
              </a:defRPr>
            </a:pPr>
            <a:r>
              <a:rPr sz="2100" b="0">
                <a:solidFill>
                  <a:srgbClr val="191F28"/>
                </a:solidFill>
                <a:latin typeface="Segoe UI"/>
                <a:ea typeface="Segoe UI"/>
                <a:cs typeface="Segoe UI"/>
              </a:rPr>
              <a:t>Clear save and recovery states.</a:t>
            </a:r>
          </a:p>
          <a:p xmlns:a="http://schemas.openxmlformats.org/drawingml/2006/main">
            <a:pPr>
              <a:defRPr sz="2100" b="0">
                <a:solidFill>
                  <a:srgbClr val="191F28"/>
                </a:solidFill>
                <a:latin typeface="Segoe UI"/>
                <a:ea typeface="Segoe UI"/>
                <a:cs typeface="Segoe UI"/>
              </a:defRPr>
            </a:pPr>
            <a:r>
              <a:rPr sz="2100" b="0">
                <a:solidFill>
                  <a:srgbClr val="191F28"/>
                </a:solidFill>
                <a:latin typeface="Segoe UI"/>
                <a:ea typeface="Segoe UI"/>
                <a:cs typeface="Segoe UI"/>
              </a:rPr>
              <a:t>Local usefulness without a network.</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0251c0c1cc641f7"/>
          <a:stretch xmlns:a="http://schemas.openxmlformats.org/drawingml/2006/main"/>
        </p:blipFill>
        <p:spPr>
          <a:xfrm xmlns:a="http://schemas.openxmlformats.org/drawingml/2006/main">
            <a:off x="8506778" y="400050"/>
            <a:ext cx="2503170" cy="55626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0E89F76-820B-4B80-B973-0367F561EBA9}"/>
              </a:ext>
            </a:extLst>
          </p:cNvPr>
          <p:cNvSpPr>
            <a:spLocks xmlns:a="http://schemas.openxmlformats.org/drawingml/2006/main" noGrp="1"/>
          </p:cNvSpPr>
          <p:nvPr/>
        </p:nvSpPr>
        <p:spPr>
          <a:xfrm xmlns:a="http://schemas.openxmlformats.org/drawingml/2006/main">
            <a:off x="685800" y="5619750"/>
            <a:ext cx="6810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007F78"/>
                </a:solidFill>
                <a:latin typeface="Segoe UI"/>
                <a:ea typeface="Segoe UI"/>
                <a:cs typeface="Segoe UI"/>
              </a:defRPr>
            </a:pPr>
            <a:r>
              <a:rPr sz="1875" b="1">
                <a:solidFill>
                  <a:srgbClr val="007F78"/>
                </a:solidFill>
                <a:latin typeface="Segoe UI"/>
                <a:ea typeface="Segoe UI"/>
                <a:cs typeface="Segoe UI"/>
              </a:rPr>
              <a:t>EN  KO  JA  ZH  HI  ES  PT  FR</a:t>
            </a:r>
          </a:p>
        </p:txBody>
      </p:sp>
      <p:sp>
        <p:nvSpPr>
          <p:cNvPr id="6" name="">
            <a:extLst xmlns:a="http://schemas.openxmlformats.org/drawingml/2006/main">
              <a:ext uri="{FF2B5EF4-FFF2-40B4-BE49-F238E27FC236}">
                <a16:creationId xmlns:a16="http://schemas.microsoft.com/office/drawing/2014/main" id="{33EE80DA-88AD-4AC0-A3FF-059F1FB36460}"/>
              </a:ext>
            </a:extLst>
          </p:cNvPr>
          <p:cNvSpPr>
            <a:spLocks xmlns:a="http://schemas.openxmlformats.org/drawingml/2006/main" noGrp="1"/>
          </p:cNvSpPr>
          <p:nvPr/>
        </p:nvSpPr>
        <p:spPr>
          <a:xfrm xmlns:a="http://schemas.openxmlformats.org/drawingml/2006/main">
            <a:off x="685800" y="628650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67085"/>
                </a:solidFill>
                <a:latin typeface="Segoe UI"/>
                <a:ea typeface="Segoe UI"/>
                <a:cs typeface="Segoe UI"/>
              </a:defRPr>
            </a:pPr>
            <a:r>
              <a:rPr sz="1200" b="0">
                <a:solidFill>
                  <a:srgbClr val="667085"/>
                </a:solidFill>
                <a:latin typeface="Segoe UI"/>
                <a:ea typeface="Segoe UI"/>
                <a:cs typeface="Segoe UI"/>
              </a:rPr>
              <a:t>FOR THE RECORD   /   06</a:t>
            </a:r>
          </a:p>
        </p:txBody>
      </p:sp>
    </p:spTree>
    <p:extLst>
      <p:ext uri="{BB962C8B-B14F-4D97-AF65-F5344CB8AC3E}">
        <p14:creationId xmlns:p14="http://schemas.microsoft.com/office/powerpoint/2010/main" val="172282112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E9D035-FCCD-457F-AE2C-1C5FB477151F}"/>
              </a:ext>
            </a:extLst>
          </p:cNvPr>
          <p:cNvSpPr>
            <a:spLocks xmlns:a="http://schemas.openxmlformats.org/drawingml/2006/main" noGrp="1"/>
          </p:cNvSpPr>
          <p:nvPr/>
        </p:nvSpPr>
        <p:spPr>
          <a:xfrm xmlns:a="http://schemas.openxmlformats.org/drawingml/2006/main">
            <a:off x="685800" y="6667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050" b="1">
                <a:solidFill>
                  <a:srgbClr val="191F28"/>
                </a:solidFill>
                <a:latin typeface="Segoe UI"/>
                <a:ea typeface="Segoe UI"/>
                <a:cs typeface="Segoe UI"/>
              </a:defRPr>
            </a:pPr>
            <a:r>
              <a:rPr sz="4050" b="1">
                <a:solidFill>
                  <a:srgbClr val="191F28"/>
                </a:solidFill>
                <a:latin typeface="Segoe UI"/>
                <a:ea typeface="Segoe UI"/>
                <a:cs typeface="Segoe UI"/>
              </a:rPr>
              <a:t>Delivery status</a:t>
            </a:r>
          </a:p>
        </p:txBody>
      </p:sp>
      <p:sp>
        <p:nvSpPr>
          <p:cNvPr id="2" name="">
            <a:extLst xmlns:a="http://schemas.openxmlformats.org/drawingml/2006/main">
              <a:ext uri="{FF2B5EF4-FFF2-40B4-BE49-F238E27FC236}">
                <a16:creationId xmlns:a16="http://schemas.microsoft.com/office/drawing/2014/main" id="{25C92CBF-0C71-47BC-8B56-39BD3B384913}"/>
              </a:ext>
            </a:extLst>
          </p:cNvPr>
          <p:cNvSpPr>
            <a:spLocks xmlns:a="http://schemas.openxmlformats.org/drawingml/2006/main" noGrp="1"/>
          </p:cNvSpPr>
          <p:nvPr/>
        </p:nvSpPr>
        <p:spPr>
          <a:xfrm xmlns:a="http://schemas.openxmlformats.org/drawingml/2006/main">
            <a:off x="685800" y="1981200"/>
            <a:ext cx="4714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007F78"/>
                </a:solidFill>
                <a:latin typeface="Segoe UI"/>
                <a:ea typeface="Segoe UI"/>
                <a:cs typeface="Segoe UI"/>
              </a:defRPr>
            </a:pPr>
            <a:r>
              <a:rPr sz="2700" b="1">
                <a:solidFill>
                  <a:srgbClr val="007F78"/>
                </a:solidFill>
                <a:latin typeface="Segoe UI"/>
                <a:ea typeface="Segoe UI"/>
                <a:cs typeface="Segoe UI"/>
              </a:rPr>
              <a:t>Implemented</a:t>
            </a:r>
          </a:p>
        </p:txBody>
      </p:sp>
      <p:sp>
        <p:nvSpPr>
          <p:cNvPr id="3" name="">
            <a:extLst xmlns:a="http://schemas.openxmlformats.org/drawingml/2006/main">
              <a:ext uri="{FF2B5EF4-FFF2-40B4-BE49-F238E27FC236}">
                <a16:creationId xmlns:a16="http://schemas.microsoft.com/office/drawing/2014/main" id="{E2A1D9E0-D7E0-4648-B03B-E348FFBBE032}"/>
              </a:ext>
            </a:extLst>
          </p:cNvPr>
          <p:cNvSpPr>
            <a:spLocks xmlns:a="http://schemas.openxmlformats.org/drawingml/2006/main" noGrp="1"/>
          </p:cNvSpPr>
          <p:nvPr/>
        </p:nvSpPr>
        <p:spPr>
          <a:xfrm xmlns:a="http://schemas.openxmlformats.org/drawingml/2006/main">
            <a:off x="685800" y="2819400"/>
            <a:ext cx="4857750" cy="2219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Offline work journal</a:t>
            </a:r>
          </a:p>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Private reflection storage</a:t>
            </a:r>
          </a:p>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Native wallet bridge</a:t>
            </a:r>
          </a:p>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Direct read-only activity path</a:t>
            </a:r>
          </a:p>
        </p:txBody>
      </p:sp>
      <p:sp>
        <p:nvSpPr>
          <p:cNvPr id="4" name="">
            <a:extLst xmlns:a="http://schemas.openxmlformats.org/drawingml/2006/main">
              <a:ext uri="{FF2B5EF4-FFF2-40B4-BE49-F238E27FC236}">
                <a16:creationId xmlns:a16="http://schemas.microsoft.com/office/drawing/2014/main" id="{BDAA8A93-3761-4F5E-86F2-CA90F7784532}"/>
              </a:ext>
            </a:extLst>
          </p:cNvPr>
          <p:cNvSpPr>
            <a:spLocks xmlns:a="http://schemas.openxmlformats.org/drawingml/2006/main" noGrp="1"/>
          </p:cNvSpPr>
          <p:nvPr/>
        </p:nvSpPr>
        <p:spPr>
          <a:xfrm xmlns:a="http://schemas.openxmlformats.org/drawingml/2006/main">
            <a:off x="6438900" y="1981200"/>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91F28"/>
                </a:solidFill>
                <a:latin typeface="Segoe UI"/>
                <a:ea typeface="Segoe UI"/>
                <a:cs typeface="Segoe UI"/>
              </a:defRPr>
            </a:pPr>
            <a:r>
              <a:rPr sz="2700" b="1">
                <a:solidFill>
                  <a:srgbClr val="191F28"/>
                </a:solidFill>
                <a:latin typeface="Segoe UI"/>
                <a:ea typeface="Segoe UI"/>
                <a:cs typeface="Segoe UI"/>
              </a:rPr>
              <a:t>Open release gates</a:t>
            </a:r>
          </a:p>
        </p:txBody>
      </p:sp>
      <p:sp>
        <p:nvSpPr>
          <p:cNvPr id="5" name="">
            <a:extLst xmlns:a="http://schemas.openxmlformats.org/drawingml/2006/main">
              <a:ext uri="{FF2B5EF4-FFF2-40B4-BE49-F238E27FC236}">
                <a16:creationId xmlns:a16="http://schemas.microsoft.com/office/drawing/2014/main" id="{D4616195-E147-45E2-9B1E-8FB4A762E4D5}"/>
              </a:ext>
            </a:extLst>
          </p:cNvPr>
          <p:cNvSpPr>
            <a:spLocks xmlns:a="http://schemas.openxmlformats.org/drawingml/2006/main" noGrp="1"/>
          </p:cNvSpPr>
          <p:nvPr/>
        </p:nvSpPr>
        <p:spPr>
          <a:xfrm xmlns:a="http://schemas.openxmlformats.org/drawingml/2006/main">
            <a:off x="6438900" y="2819400"/>
            <a:ext cx="4810125" cy="2219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Physical Seeker + live activity</a:t>
            </a:r>
          </a:p>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Fluent-speaker review</a:t>
            </a:r>
          </a:p>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Production RPC strategy</a:t>
            </a:r>
          </a:p>
          <a:p xmlns:a="http://schemas.openxmlformats.org/drawingml/2006/main">
            <a:pPr>
              <a:defRPr sz="2250" b="0">
                <a:solidFill>
                  <a:srgbClr val="191F28"/>
                </a:solidFill>
                <a:latin typeface="Segoe UI"/>
                <a:ea typeface="Segoe UI"/>
                <a:cs typeface="Segoe UI"/>
              </a:defRPr>
            </a:pPr>
            <a:r>
              <a:rPr sz="2250" b="0">
                <a:solidFill>
                  <a:srgbClr val="191F28"/>
                </a:solidFill>
                <a:latin typeface="Segoe UI"/>
                <a:ea typeface="Segoe UI"/>
                <a:cs typeface="Segoe UI"/>
              </a:rPr>
              <a:t>Production signing</a:t>
            </a:r>
          </a:p>
        </p:txBody>
      </p:sp>
      <p:sp>
        <p:nvSpPr>
          <p:cNvPr id="6" name="">
            <a:extLst xmlns:a="http://schemas.openxmlformats.org/drawingml/2006/main">
              <a:ext uri="{FF2B5EF4-FFF2-40B4-BE49-F238E27FC236}">
                <a16:creationId xmlns:a16="http://schemas.microsoft.com/office/drawing/2014/main" id="{913D686B-2D79-4CE8-83C6-A8E59B89CCF0}"/>
              </a:ext>
            </a:extLst>
          </p:cNvPr>
          <p:cNvSpPr>
            <a:spLocks xmlns:a="http://schemas.openxmlformats.org/drawingml/2006/main" noGrp="1"/>
          </p:cNvSpPr>
          <p:nvPr/>
        </p:nvSpPr>
        <p:spPr>
          <a:xfrm xmlns:a="http://schemas.openxmlformats.org/drawingml/2006/main">
            <a:off x="685800" y="5591175"/>
            <a:ext cx="106203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67085"/>
                </a:solidFill>
                <a:latin typeface="Segoe UI"/>
                <a:ea typeface="Segoe UI"/>
                <a:cs typeface="Segoe UI"/>
              </a:defRPr>
            </a:pPr>
            <a:r>
              <a:rPr sz="1725" b="0">
                <a:solidFill>
                  <a:srgbClr val="667085"/>
                </a:solidFill>
                <a:latin typeface="Segoe UI"/>
                <a:ea typeface="Segoe UI"/>
                <a:cs typeface="Segoe UI"/>
              </a:rPr>
              <a:t>88 app tests pass. Manual mock-wallet connection verified. Fixtures are not live trading evidence.</a:t>
            </a:r>
          </a:p>
        </p:txBody>
      </p:sp>
      <p:sp>
        <p:nvSpPr>
          <p:cNvPr id="7" name="">
            <a:extLst xmlns:a="http://schemas.openxmlformats.org/drawingml/2006/main">
              <a:ext uri="{FF2B5EF4-FFF2-40B4-BE49-F238E27FC236}">
                <a16:creationId xmlns:a16="http://schemas.microsoft.com/office/drawing/2014/main" id="{6E8DCF3D-54F4-450B-BE34-1284C5F94315}"/>
              </a:ext>
            </a:extLst>
          </p:cNvPr>
          <p:cNvSpPr>
            <a:spLocks xmlns:a="http://schemas.openxmlformats.org/drawingml/2006/main" noGrp="1"/>
          </p:cNvSpPr>
          <p:nvPr/>
        </p:nvSpPr>
        <p:spPr>
          <a:xfrm xmlns:a="http://schemas.openxmlformats.org/drawingml/2006/main">
            <a:off x="685800" y="628650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67085"/>
                </a:solidFill>
                <a:latin typeface="Segoe UI"/>
                <a:ea typeface="Segoe UI"/>
                <a:cs typeface="Segoe UI"/>
              </a:defRPr>
            </a:pPr>
            <a:r>
              <a:rPr sz="1200" b="0">
                <a:solidFill>
                  <a:srgbClr val="667085"/>
                </a:solidFill>
                <a:latin typeface="Segoe UI"/>
                <a:ea typeface="Segoe UI"/>
                <a:cs typeface="Segoe UI"/>
              </a:rPr>
              <a:t>FOR THE RECORD   /   07</a:t>
            </a:r>
          </a:p>
        </p:txBody>
      </p:sp>
    </p:spTree>
    <p:extLst>
      <p:ext uri="{BB962C8B-B14F-4D97-AF65-F5344CB8AC3E}">
        <p14:creationId xmlns:p14="http://schemas.microsoft.com/office/powerpoint/2010/main" val="1130266552"/>
      </p:ext>
    </p:extLst>
  </p:cSld>
</p:sld>
</file>

<file path=ppt/slides/slide8.xml><?xml version="1.0" encoding="utf-8"?>
<p:sld xmlns:p="http://schemas.openxmlformats.org/presentationml/2006/main">
  <p:cSld>
    <p:bg>
      <p:bgPr>
        <a:solidFill xmlns:a="http://schemas.openxmlformats.org/drawingml/2006/main">
          <a:srgbClr val="191F2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653E24F-3DEA-48C3-B1C2-7179F300BD35}"/>
              </a:ext>
            </a:extLst>
          </p:cNvPr>
          <p:cNvSpPr>
            <a:spLocks xmlns:a="http://schemas.openxmlformats.org/drawingml/2006/main" noGrp="1"/>
          </p:cNvSpPr>
          <p:nvPr/>
        </p:nvSpPr>
        <p:spPr>
          <a:xfrm xmlns:a="http://schemas.openxmlformats.org/drawingml/2006/main">
            <a:off x="685800" y="714375"/>
            <a:ext cx="10763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Segoe UI"/>
                <a:ea typeface="Segoe UI"/>
                <a:cs typeface="Segoe UI"/>
              </a:defRPr>
            </a:pPr>
            <a:r>
              <a:rPr sz="3825" b="1">
                <a:solidFill>
                  <a:srgbClr val="FFFFFF"/>
                </a:solidFill>
                <a:latin typeface="Segoe UI"/>
                <a:ea typeface="Segoe UI"/>
                <a:cs typeface="Segoe UI"/>
              </a:rPr>
              <a:t>Leave tomorrow a starting point.</a:t>
            </a:r>
          </a:p>
        </p:txBody>
      </p:sp>
      <p:sp>
        <p:nvSpPr>
          <p:cNvPr id="2" name="">
            <a:extLst xmlns:a="http://schemas.openxmlformats.org/drawingml/2006/main">
              <a:ext uri="{FF2B5EF4-FFF2-40B4-BE49-F238E27FC236}">
                <a16:creationId xmlns:a16="http://schemas.microsoft.com/office/drawing/2014/main" id="{EC809C49-299D-48B7-86ED-D2F916FC408E}"/>
              </a:ext>
            </a:extLst>
          </p:cNvPr>
          <p:cNvSpPr>
            <a:spLocks xmlns:a="http://schemas.openxmlformats.org/drawingml/2006/main" noGrp="1"/>
          </p:cNvSpPr>
          <p:nvPr/>
        </p:nvSpPr>
        <p:spPr>
          <a:xfrm xmlns:a="http://schemas.openxmlformats.org/drawingml/2006/main">
            <a:off x="685800" y="2295525"/>
            <a:ext cx="10620375"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FFFFFF"/>
                </a:solidFill>
                <a:latin typeface="Segoe UI"/>
                <a:ea typeface="Segoe UI"/>
                <a:cs typeface="Segoe UI"/>
              </a:defRPr>
            </a:pPr>
            <a:r>
              <a:rPr sz="3300" b="1">
                <a:solidFill>
                  <a:srgbClr val="FFFFFF"/>
                </a:solidFill>
                <a:latin typeface="Segoe UI"/>
                <a:ea typeface="Segoe UI"/>
                <a:cs typeface="Segoe UI"/>
              </a:rPr>
              <a:t>Keep the intention.</a:t>
            </a:r>
          </a:p>
          <a:p xmlns:a="http://schemas.openxmlformats.org/drawingml/2006/main">
            <a:pPr>
              <a:defRPr sz="3300" b="1">
                <a:solidFill>
                  <a:srgbClr val="FFFFFF"/>
                </a:solidFill>
                <a:latin typeface="Segoe UI"/>
                <a:ea typeface="Segoe UI"/>
                <a:cs typeface="Segoe UI"/>
              </a:defRPr>
            </a:pPr>
            <a:r>
              <a:rPr sz="3300" b="1">
                <a:solidFill>
                  <a:srgbClr val="FFFFFF"/>
                </a:solidFill>
                <a:latin typeface="Segoe UI"/>
                <a:ea typeface="Segoe UI"/>
                <a:cs typeface="Segoe UI"/>
              </a:rPr>
              <a:t>Remember the reason.</a:t>
            </a:r>
          </a:p>
          <a:p xmlns:a="http://schemas.openxmlformats.org/drawingml/2006/main">
            <a:pPr>
              <a:defRPr sz="3300" b="1">
                <a:solidFill>
                  <a:srgbClr val="FFFFFF"/>
                </a:solidFill>
                <a:latin typeface="Segoe UI"/>
                <a:ea typeface="Segoe UI"/>
                <a:cs typeface="Segoe UI"/>
              </a:defRPr>
            </a:pPr>
            <a:r>
              <a:rPr sz="3300" b="1">
                <a:solidFill>
                  <a:srgbClr val="FFFFFF"/>
                </a:solidFill>
                <a:latin typeface="Segoe UI"/>
                <a:ea typeface="Segoe UI"/>
                <a:cs typeface="Segoe UI"/>
              </a:rPr>
              <a:t>Return to a clear next action.</a:t>
            </a:r>
          </a:p>
        </p:txBody>
      </p:sp>
      <p:sp>
        <p:nvSpPr>
          <p:cNvPr id="3" name="">
            <a:extLst xmlns:a="http://schemas.openxmlformats.org/drawingml/2006/main">
              <a:ext uri="{FF2B5EF4-FFF2-40B4-BE49-F238E27FC236}">
                <a16:creationId xmlns:a16="http://schemas.microsoft.com/office/drawing/2014/main" id="{777D23BA-6ABE-4C9F-B177-EC22E0C05F56}"/>
              </a:ext>
            </a:extLst>
          </p:cNvPr>
          <p:cNvSpPr>
            <a:spLocks xmlns:a="http://schemas.openxmlformats.org/drawingml/2006/main" noGrp="1"/>
          </p:cNvSpPr>
          <p:nvPr/>
        </p:nvSpPr>
        <p:spPr>
          <a:xfrm xmlns:a="http://schemas.openxmlformats.org/drawingml/2006/main">
            <a:off x="685800" y="4876800"/>
            <a:ext cx="1057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D5F56B"/>
                </a:solidFill>
                <a:latin typeface="Segoe UI"/>
                <a:ea typeface="Segoe UI"/>
                <a:cs typeface="Segoe UI"/>
              </a:defRPr>
            </a:pPr>
            <a:r>
              <a:rPr sz="1875" b="0">
                <a:solidFill>
                  <a:srgbClr val="D5F56B"/>
                </a:solidFill>
                <a:latin typeface="Segoe UI"/>
                <a:ea typeface="Segoe UI"/>
                <a:cs typeface="Segoe UI"/>
              </a:rPr>
              <a:t>Next: verify live activity on Seeker, then learn from returning users.</a:t>
            </a:r>
          </a:p>
        </p:txBody>
      </p:sp>
      <p:sp>
        <p:nvSpPr>
          <p:cNvPr id="4" name="">
            <a:extLst xmlns:a="http://schemas.openxmlformats.org/drawingml/2006/main">
              <a:ext uri="{FF2B5EF4-FFF2-40B4-BE49-F238E27FC236}">
                <a16:creationId xmlns:a16="http://schemas.microsoft.com/office/drawing/2014/main" id="{630F1649-7357-40DB-8F1B-EBA87418AA49}"/>
              </a:ext>
            </a:extLst>
          </p:cNvPr>
          <p:cNvSpPr>
            <a:spLocks xmlns:a="http://schemas.openxmlformats.org/drawingml/2006/main" noGrp="1"/>
          </p:cNvSpPr>
          <p:nvPr/>
        </p:nvSpPr>
        <p:spPr>
          <a:xfrm xmlns:a="http://schemas.openxmlformats.org/drawingml/2006/main">
            <a:off x="685800" y="56769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D5F56B"/>
                </a:solidFill>
                <a:latin typeface="Segoe UI"/>
                <a:ea typeface="Segoe UI"/>
                <a:cs typeface="Segoe UI"/>
              </a:defRPr>
            </a:pPr>
            <a:r>
              <a:rPr sz="1875" b="0">
                <a:solidFill>
                  <a:srgbClr val="D5F56B"/>
                </a:solidFill>
                <a:latin typeface="Segoe UI"/>
                <a:ea typeface="Segoe UI"/>
                <a:cs typeface="Segoe UI"/>
              </a:rPr>
              <a:t>workroom-seeker-6984.web.app</a:t>
            </a:r>
          </a:p>
        </p:txBody>
      </p:sp>
      <p:sp>
        <p:nvSpPr>
          <p:cNvPr id="5" name="">
            <a:extLst xmlns:a="http://schemas.openxmlformats.org/drawingml/2006/main">
              <a:ext uri="{FF2B5EF4-FFF2-40B4-BE49-F238E27FC236}">
                <a16:creationId xmlns:a16="http://schemas.microsoft.com/office/drawing/2014/main" id="{719F52A1-C387-45AB-8BF5-0B5B965C02FB}"/>
              </a:ext>
            </a:extLst>
          </p:cNvPr>
          <p:cNvSpPr>
            <a:spLocks xmlns:a="http://schemas.openxmlformats.org/drawingml/2006/main" noGrp="1"/>
          </p:cNvSpPr>
          <p:nvPr/>
        </p:nvSpPr>
        <p:spPr>
          <a:xfrm xmlns:a="http://schemas.openxmlformats.org/drawingml/2006/main">
            <a:off x="685800" y="628650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D5F56B"/>
                </a:solidFill>
                <a:latin typeface="Segoe UI"/>
                <a:ea typeface="Segoe UI"/>
                <a:cs typeface="Segoe UI"/>
              </a:defRPr>
            </a:pPr>
            <a:r>
              <a:rPr sz="1200" b="0">
                <a:solidFill>
                  <a:srgbClr val="D5F56B"/>
                </a:solidFill>
                <a:latin typeface="Segoe UI"/>
                <a:ea typeface="Segoe UI"/>
                <a:cs typeface="Segoe UI"/>
              </a:rPr>
              <a:t>FOR THE RECORD   /   08</a:t>
            </a:r>
          </a:p>
        </p:txBody>
      </p:sp>
    </p:spTree>
    <p:extLst>
      <p:ext uri="{BB962C8B-B14F-4D97-AF65-F5344CB8AC3E}">
        <p14:creationId xmlns:p14="http://schemas.microsoft.com/office/powerpoint/2010/main" val="15801827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2026-09-20T14:55:04.7120000Z</dcterms:created>
  <dcterms:modified xsi:type="dcterms:W3CDTF">2026-09-20T14:55:04.7120000Z</dcterms:modified>
</coreProperties>
</file>