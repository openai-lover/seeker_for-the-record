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02ddf4698745ee" /><Relationship Type="http://schemas.openxmlformats.org/officeDocument/2006/relationships/extended-properties" Target="/docProps/app.xml" Id="Ra48ebd1df9514444" /><Relationship Type="http://schemas.openxmlformats.org/officeDocument/2006/relationships/officeDocument" Target="/ppt/presentation.xml" Id="Rb63a31003bdf42b6" /></Relationships>
</file>

<file path=ppt/presentation.xml><?xml version="1.0" encoding="utf-8"?>
<p:presentation xmlns:p="http://schemas.openxmlformats.org/presentationml/2006/main">
  <p:sldMasterIdLst>
    <p:sldMasterId xmlns:r="http://schemas.openxmlformats.org/officeDocument/2006/relationships" id="2147483648" r:id="R3426a9b5ae414196"/>
  </p:sldMasterIdLst>
  <p:notesMasterIdLst>
    <p:notesMasterId xmlns:r="http://schemas.openxmlformats.org/officeDocument/2006/relationships" r:id="Rb2cf8b556e134d70"/>
  </p:notesMasterIdLst>
  <p:sldIdLst>
    <p:sldId xmlns:r="http://schemas.openxmlformats.org/officeDocument/2006/relationships" id="256" r:id="R09304aa42dc74f34"/>
    <p:sldId xmlns:r="http://schemas.openxmlformats.org/officeDocument/2006/relationships" id="257" r:id="R5fc44c8b74c249e6"/>
    <p:sldId xmlns:r="http://schemas.openxmlformats.org/officeDocument/2006/relationships" id="258" r:id="R812ded83febc4246"/>
    <p:sldId xmlns:r="http://schemas.openxmlformats.org/officeDocument/2006/relationships" id="259" r:id="R981aa548d4c7410c"/>
    <p:sldId xmlns:r="http://schemas.openxmlformats.org/officeDocument/2006/relationships" id="260" r:id="R624cf2eb73624de0"/>
    <p:sldId xmlns:r="http://schemas.openxmlformats.org/officeDocument/2006/relationships" id="261" r:id="R94c239f7655d4c94"/>
    <p:sldId xmlns:r="http://schemas.openxmlformats.org/officeDocument/2006/relationships" id="262" r:id="R9ba599f0a01c4fe4"/>
    <p:sldId xmlns:r="http://schemas.openxmlformats.org/officeDocument/2006/relationships" id="263" r:id="R4f79570716d141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554aea734a4f72" /><Relationship Type="http://schemas.openxmlformats.org/officeDocument/2006/relationships/slideMaster" Target="/ppt/slideMasters/slideMaster1.xml" Id="R3426a9b5ae414196" /><Relationship Type="http://schemas.openxmlformats.org/officeDocument/2006/relationships/notesMaster" Target="/ppt/notesMasters/notesMaster1.xml" Id="Rb2cf8b556e134d70" /><Relationship Type="http://schemas.openxmlformats.org/officeDocument/2006/relationships/presProps" Target="/ppt/presProps.xml" Id="R56119c9aa9cd4209" /><Relationship Type="http://schemas.openxmlformats.org/officeDocument/2006/relationships/tableStyles" Target="/ppt/tableStyles.xml" Id="R2f1a5d60d98340c1" /><Relationship Type="http://schemas.openxmlformats.org/officeDocument/2006/relationships/slide" Target="/ppt/slides/slide1.xml" Id="R09304aa42dc74f34" /><Relationship Type="http://schemas.openxmlformats.org/officeDocument/2006/relationships/slide" Target="/ppt/slides/slide2.xml" Id="R5fc44c8b74c249e6" /><Relationship Type="http://schemas.openxmlformats.org/officeDocument/2006/relationships/slide" Target="/ppt/slides/slide3.xml" Id="R812ded83febc4246" /><Relationship Type="http://schemas.openxmlformats.org/officeDocument/2006/relationships/slide" Target="/ppt/slides/slide4.xml" Id="R981aa548d4c7410c" /><Relationship Type="http://schemas.openxmlformats.org/officeDocument/2006/relationships/slide" Target="/ppt/slides/slide5.xml" Id="R624cf2eb73624de0" /><Relationship Type="http://schemas.openxmlformats.org/officeDocument/2006/relationships/slide" Target="/ppt/slides/slide6.xml" Id="R94c239f7655d4c94" /><Relationship Type="http://schemas.openxmlformats.org/officeDocument/2006/relationships/slide" Target="/ppt/slides/slide7.xml" Id="R9ba599f0a01c4fe4" /><Relationship Type="http://schemas.openxmlformats.org/officeDocument/2006/relationships/slide" Target="/ppt/slides/slide8.xml" Id="R4f79570716d141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82a7a0deee41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e718ba73ec4a80" /><Relationship Type="http://schemas.openxmlformats.org/officeDocument/2006/relationships/notesMaster" Target="/ppt/notesMasters/notesMaster1.xml" Id="R0521949b7a6d40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73368813a42cb" /><Relationship Type="http://schemas.openxmlformats.org/officeDocument/2006/relationships/notesMaster" Target="/ppt/notesMasters/notesMaster1.xml" Id="Rcea707ec7b0049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f42d3e2f464004" /><Relationship Type="http://schemas.openxmlformats.org/officeDocument/2006/relationships/notesMaster" Target="/ppt/notesMasters/notesMaster1.xml" Id="R119bb1d5df2b40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35ff54295141c1" /><Relationship Type="http://schemas.openxmlformats.org/officeDocument/2006/relationships/notesMaster" Target="/ppt/notesMasters/notesMaster1.xml" Id="R6b30c26c297141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9b36fdb2284796" /><Relationship Type="http://schemas.openxmlformats.org/officeDocument/2006/relationships/notesMaster" Target="/ppt/notesMasters/notesMaster1.xml" Id="Rf9b1f0e00a404f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0cacc49de44fa9" /><Relationship Type="http://schemas.openxmlformats.org/officeDocument/2006/relationships/notesMaster" Target="/ppt/notesMasters/notesMaster1.xml" Id="R658ba5d35b334e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b75529ea99423d" /><Relationship Type="http://schemas.openxmlformats.org/officeDocument/2006/relationships/notesMaster" Target="/ppt/notesMasters/notesMaster1.xml" Id="R770eafce381641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78d0defc6a4c71" /><Relationship Type="http://schemas.openxmlformats.org/officeDocument/2006/relationships/notesMaster" Target="/ppt/notesMasters/notesMaster1.xml" Id="R6d39c5017e41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CLOCK IN 2026, development preview 0.5.1. SEEKER_LOVER. Original room illustration from assets/room/study.png. App artwork, not a photograph of a physical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rationale and initial audience, not a measured demand or psychological-effect claim. No user study, retention cohort or product-market-fit result is claimed. A reason written after a transaction is not proof of prior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lib/ui/trade_journal.dart, lib/ui/decision_replay.dart, lib/domain/trade_journal.dart. Current UI screenshot uses a synthetic transaction in a widget test and is not a real trade. Dates appear in-app; this does not claim new scheduled push reminders for trade revisits. The original note is the first saved writing, not a pre-trade attestation.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Seeker Android 15. multilingual-e5-small Q8 semantic encoder, llama.cpp v0.5.0 CPU, MIT. Not a generative LLM. Model bytes 132439008. Optimized JNI/Flutter test: first wall time 1661ms including hash, load and topic preparation, 63 subsequent calls 30–67ms, median44ms. Initial download, UI transitions and user choice are excluded. Engine releases after 60 seconds idle or backgrounding. Thirty further English/Korean synthetic cases fixed before final evaluation: 26/30 first-choice matches; nine ambiguous, including all four mistakes with expected topic in other candidate. Development examples are not independent accuracy evidence. Source: https://github.com/openai-lover/seeker_FOR-THE-RECORD/blob/improve/decision-replay/docs/ON_DEVICE_REFLECTION.md and docs/AI_DEVICE_051.json. Original model: https://huggingface.co/intfloat/multilingual-e5-small . Screenshot uses a synthetic work note in the normal release app, not a wallet trade.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source: android/app/src/main/kotlin/app/workroom/seeker_workroom/WorkroomActivity.kt. Public RPC/parser: lib/data/direct_activity.dart. Storage: lib/data/repository.dart. Physical Seeker MWA connection and public history retrieval worked on 28 September; the available activity was unsupported, so supported real swap-to-journal completion remains unverified. No funds moved. Wallet public address/signatures go to Solana RPC; note text does not. Official MWA documentation: https://docs.solanamobile.com/developers/mobile-wallet-adapter . Optional shared rooms/SKR purchases are disabled in this edition and are not claimed as a working payment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physical Seeker home, release0.5.1. Room redesign and onboarding from0.5.0 remain. Core project, focus, outcome, and bookmark flow works offline. UI languages EN,KO,JA,ZH,HI,ES,PT,FR. Large-text tests cover200% text scale; fluent-speaker and broad accessibility review remain release work. App artwork includes generated room assets and attributed motion, documented in assets/ATTRIBUTIONS.md.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docs/ON_DEVICE_REFLECTION.md, docs/AI_DEVICE_051.json, docs/SEEKER_DEVICE_041.md. Android15 Seeker.93 Flutter tests and clean static analysis.34 development examples tuned to34/34,30 additional fixed examples26/30. Nine additional cases were ambiguous and all four first-choice misses were in those nine.64 combined examples,15 ambiguous. Do not label top-two coverage as100% accuracy. APK0.5.1 versionCode2008,37811704bytes,SHA256234ba0ca6ae9e93d0ff5767b14098e3211ff197317bde663b894f266d3498ea0. Development signing, not a store production certificate.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and commit history: https://github.com/openai-lover/seeker_FOR-THE-RECORD. Product-market fit, retention and user traction are hypotheses to test, not measured results. SKR integration is optional under the official competition announcement and disabled in this release: https://solanamobile.com/blog/clock-in-the-solana-mobile-hackathon . This deck supports a submission draft; final contest submission is not authorized. The owner asked to keep the entry editable and stop after AI pre-review.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eb750d40784c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604cfc7994fd6" /><Relationship Type="http://schemas.openxmlformats.org/officeDocument/2006/relationships/slideLayout" Target="/ppt/slideLayouts/slideLayout1.xml" Id="Rfdfd84dd8a5341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fd84dd8a5341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b4f89aa2da4f50" /><Relationship Type="http://schemas.openxmlformats.org/officeDocument/2006/relationships/image" Target="/ppt/media/image.png" Id="Rb6bb2aedc3de478e" /><Relationship Type="http://schemas.openxmlformats.org/officeDocument/2006/relationships/notesSlide" Target="/ppt/notesSlides/notesSlide1.xml" Id="Rf9d0b68a409b40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2e380d8eb746d4" /><Relationship Type="http://schemas.openxmlformats.org/officeDocument/2006/relationships/notesSlide" Target="/ppt/notesSlides/notesSlide2.xml" Id="Rfae4ae82ddf24f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3ee9584b624d8e" /><Relationship Type="http://schemas.openxmlformats.org/officeDocument/2006/relationships/image" Target="/ppt/media/image2.png" Id="R6c37c56d39ff41c6" /><Relationship Type="http://schemas.openxmlformats.org/officeDocument/2006/relationships/notesSlide" Target="/ppt/notesSlides/notesSlide3.xml" Id="R0d100bc5c3d64a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6e5622a4a14c15" /><Relationship Type="http://schemas.openxmlformats.org/officeDocument/2006/relationships/image" Target="/ppt/media/image3.png" Id="Ree775315f90347ff" /><Relationship Type="http://schemas.openxmlformats.org/officeDocument/2006/relationships/notesSlide" Target="/ppt/notesSlides/notesSlide4.xml" Id="R35933300cd95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077ec17fd6480d" /><Relationship Type="http://schemas.openxmlformats.org/officeDocument/2006/relationships/notesSlide" Target="/ppt/notesSlides/notesSlide5.xml" Id="R737e74889f6c45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c3d8e0cc3e47b8" /><Relationship Type="http://schemas.openxmlformats.org/officeDocument/2006/relationships/image" Target="/ppt/media/image4.png" Id="Rbab7a2f5c7ff474b" /><Relationship Type="http://schemas.openxmlformats.org/officeDocument/2006/relationships/notesSlide" Target="/ppt/notesSlides/notesSlide6.xml" Id="R003aedea6f1840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0217a2b2174f2f" /><Relationship Type="http://schemas.openxmlformats.org/officeDocument/2006/relationships/notesSlide" Target="/ppt/notesSlides/notesSlide7.xml" Id="R158bd6dca20b44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671ae391eb4cc9" /><Relationship Type="http://schemas.openxmlformats.org/officeDocument/2006/relationships/notesSlide" Target="/ppt/notesSlides/notesSlide8.xml" Id="R024e29c695ca49fc" /></Relationships>
</file>

<file path=ppt/slides/slide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F6A2E5-659C-4255-A238-DFC1FDC65E85}"/>
              </a:ext>
            </a:extLst>
          </p:cNvPr>
          <p:cNvSpPr>
            <a:spLocks xmlns:a="http://schemas.openxmlformats.org/drawingml/2006/main" noGrp="1"/>
          </p:cNvSpPr>
          <p:nvPr/>
        </p:nvSpPr>
        <p:spPr>
          <a:xfrm xmlns:a="http://schemas.openxmlformats.org/drawingml/2006/main">
            <a:off x="609600" y="1066800"/>
            <a:ext cx="59055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292E25"/>
                </a:solidFill>
                <a:latin typeface="Georgia"/>
                <a:ea typeface="Georgia"/>
                <a:cs typeface="Georgia"/>
              </a:defRPr>
            </a:pPr>
            <a:r>
              <a:rPr sz="6600" b="1">
                <a:solidFill>
                  <a:srgbClr val="292E25"/>
                </a:solidFill>
                <a:latin typeface="Georgia"/>
                <a:ea typeface="Georgia"/>
                <a:cs typeface="Georgia"/>
              </a:rPr>
              <a:t>FOR THE</a:t>
            </a:r>
          </a:p>
          <a:p xmlns:a="http://schemas.openxmlformats.org/drawingml/2006/main">
            <a:pPr>
              <a:defRPr sz="6600" b="1">
                <a:solidFill>
                  <a:srgbClr val="292E25"/>
                </a:solidFill>
                <a:latin typeface="Georgia"/>
                <a:ea typeface="Georgia"/>
                <a:cs typeface="Georgia"/>
              </a:defRPr>
            </a:pPr>
            <a:r>
              <a:rPr sz="6600" b="1">
                <a:solidFill>
                  <a:srgbClr val="292E25"/>
                </a:solidFill>
                <a:latin typeface="Georgia"/>
                <a:ea typeface="Georgia"/>
                <a:cs typeface="Georgia"/>
              </a:rPr>
              <a:t>RECORD</a:t>
            </a:r>
          </a:p>
        </p:txBody>
      </p:sp>
      <p:sp>
        <p:nvSpPr>
          <p:cNvPr id="2" name="">
            <a:extLst xmlns:a="http://schemas.openxmlformats.org/drawingml/2006/main">
              <a:ext uri="{FF2B5EF4-FFF2-40B4-BE49-F238E27FC236}">
                <a16:creationId xmlns:a16="http://schemas.microsoft.com/office/drawing/2014/main" id="{4117035C-262D-4891-B022-E05923ECF607}"/>
              </a:ext>
            </a:extLst>
          </p:cNvPr>
          <p:cNvSpPr>
            <a:spLocks xmlns:a="http://schemas.openxmlformats.org/drawingml/2006/main" noGrp="1"/>
          </p:cNvSpPr>
          <p:nvPr/>
        </p:nvSpPr>
        <p:spPr>
          <a:xfrm xmlns:a="http://schemas.openxmlformats.org/drawingml/2006/main">
            <a:off x="647700" y="3514725"/>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65E44"/>
                </a:solidFill>
                <a:latin typeface="Segoe UI"/>
                <a:ea typeface="Segoe UI"/>
                <a:cs typeface="Segoe UI"/>
              </a:defRPr>
            </a:pPr>
            <a:r>
              <a:rPr sz="2550" b="0">
                <a:solidFill>
                  <a:srgbClr val="465E44"/>
                </a:solidFill>
                <a:latin typeface="Segoe UI"/>
                <a:ea typeface="Segoe UI"/>
                <a:cs typeface="Segoe UI"/>
              </a:rPr>
              <a:t>Private reflection for</a:t>
            </a:r>
          </a:p>
          <a:p xmlns:a="http://schemas.openxmlformats.org/drawingml/2006/main">
            <a:pPr>
              <a:defRPr sz="2550" b="0">
                <a:solidFill>
                  <a:srgbClr val="465E44"/>
                </a:solidFill>
                <a:latin typeface="Segoe UI"/>
                <a:ea typeface="Segoe UI"/>
                <a:cs typeface="Segoe UI"/>
              </a:defRPr>
            </a:pPr>
            <a:r>
              <a:rPr sz="2550" b="0">
                <a:solidFill>
                  <a:srgbClr val="465E44"/>
                </a:solidFill>
                <a:latin typeface="Segoe UI"/>
                <a:ea typeface="Segoe UI"/>
                <a:cs typeface="Segoe UI"/>
              </a:rPr>
              <a:t>wallet decisions on Seeker</a:t>
            </a:r>
          </a:p>
        </p:txBody>
      </p:sp>
      <p:sp>
        <p:nvSpPr>
          <p:cNvPr id="3" name="">
            <a:extLst xmlns:a="http://schemas.openxmlformats.org/drawingml/2006/main">
              <a:ext uri="{FF2B5EF4-FFF2-40B4-BE49-F238E27FC236}">
                <a16:creationId xmlns:a16="http://schemas.microsoft.com/office/drawing/2014/main" id="{4F6ABCEA-245E-435F-BED4-61BF665C8CF2}"/>
              </a:ext>
            </a:extLst>
          </p:cNvPr>
          <p:cNvSpPr>
            <a:spLocks xmlns:a="http://schemas.openxmlformats.org/drawingml/2006/main" noGrp="1"/>
          </p:cNvSpPr>
          <p:nvPr/>
        </p:nvSpPr>
        <p:spPr>
          <a:xfrm xmlns:a="http://schemas.openxmlformats.org/drawingml/2006/main">
            <a:off x="647700" y="53149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17969"/>
                </a:solidFill>
                <a:latin typeface="Segoe UI"/>
                <a:ea typeface="Segoe UI"/>
                <a:cs typeface="Segoe UI"/>
              </a:defRPr>
            </a:pPr>
            <a:r>
              <a:rPr sz="1875" b="0">
                <a:solidFill>
                  <a:srgbClr val="717969"/>
                </a:solidFill>
                <a:latin typeface="Segoe UI"/>
                <a:ea typeface="Segoe UI"/>
                <a:cs typeface="Segoe UI"/>
              </a:rPr>
              <a:t>For the record, this is why I did it.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6bb2aedc3de478e"/>
          <a:stretch xmlns:a="http://schemas.openxmlformats.org/drawingml/2006/main"/>
        </p:blipFill>
        <p:spPr>
          <a:xfrm xmlns:a="http://schemas.openxmlformats.org/drawingml/2006/main">
            <a:off x="6524625" y="647700"/>
            <a:ext cx="523875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B9AD6D-0A94-48CA-861D-BA60A94446B7}"/>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1</a:t>
            </a:r>
          </a:p>
        </p:txBody>
      </p:sp>
    </p:spTree>
    <p:extLst>
      <p:ext uri="{BB962C8B-B14F-4D97-AF65-F5344CB8AC3E}">
        <p14:creationId xmlns:p14="http://schemas.microsoft.com/office/powerpoint/2010/main" val="4791946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89E56F-AEA3-4436-A13B-BF372511FB91}"/>
              </a:ext>
            </a:extLst>
          </p:cNvPr>
          <p:cNvSpPr>
            <a:spLocks xmlns:a="http://schemas.openxmlformats.org/drawingml/2006/main" noGrp="1"/>
          </p:cNvSpPr>
          <p:nvPr/>
        </p:nvSpPr>
        <p:spPr>
          <a:xfrm xmlns:a="http://schemas.openxmlformats.org/drawingml/2006/main">
            <a:off x="609600" y="6191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92E25"/>
                </a:solidFill>
                <a:latin typeface="Georgia"/>
                <a:ea typeface="Georgia"/>
                <a:cs typeface="Georgia"/>
              </a:defRPr>
            </a:pPr>
            <a:r>
              <a:rPr sz="4050" b="1">
                <a:solidFill>
                  <a:srgbClr val="292E25"/>
                </a:solidFill>
                <a:latin typeface="Georgia"/>
                <a:ea typeface="Georgia"/>
                <a:cs typeface="Georgia"/>
              </a:rPr>
              <a:t>The missing reason</a:t>
            </a:r>
          </a:p>
        </p:txBody>
      </p:sp>
      <p:sp>
        <p:nvSpPr>
          <p:cNvPr id="2" name="">
            <a:extLst xmlns:a="http://schemas.openxmlformats.org/drawingml/2006/main">
              <a:ext uri="{FF2B5EF4-FFF2-40B4-BE49-F238E27FC236}">
                <a16:creationId xmlns:a16="http://schemas.microsoft.com/office/drawing/2014/main" id="{E31CF7AD-D526-4243-ACB1-945D55CDE48A}"/>
              </a:ext>
            </a:extLst>
          </p:cNvPr>
          <p:cNvSpPr>
            <a:spLocks xmlns:a="http://schemas.openxmlformats.org/drawingml/2006/main" noGrp="1"/>
          </p:cNvSpPr>
          <p:nvPr/>
        </p:nvSpPr>
        <p:spPr>
          <a:xfrm xmlns:a="http://schemas.openxmlformats.org/drawingml/2006/main">
            <a:off x="609600" y="18669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465E44"/>
                </a:solidFill>
                <a:latin typeface="Segoe UI"/>
                <a:ea typeface="Segoe UI"/>
                <a:cs typeface="Segoe UI"/>
              </a:defRPr>
            </a:pPr>
            <a:r>
              <a:rPr sz="2700" b="0">
                <a:solidFill>
                  <a:srgbClr val="465E44"/>
                </a:solidFill>
                <a:latin typeface="Segoe UI"/>
                <a:ea typeface="Segoe UI"/>
                <a:cs typeface="Segoe UI"/>
              </a:rPr>
              <a:t>A transaction history keeps the event.</a:t>
            </a:r>
          </a:p>
          <a:p xmlns:a="http://schemas.openxmlformats.org/drawingml/2006/main">
            <a:pPr>
              <a:defRPr sz="2700" b="0">
                <a:solidFill>
                  <a:srgbClr val="465E44"/>
                </a:solidFill>
                <a:latin typeface="Segoe UI"/>
                <a:ea typeface="Segoe UI"/>
                <a:cs typeface="Segoe UI"/>
              </a:defRPr>
            </a:pPr>
            <a:r>
              <a:rPr sz="2700" b="0">
                <a:solidFill>
                  <a:srgbClr val="465E44"/>
                </a:solidFill>
                <a:latin typeface="Segoe UI"/>
                <a:ea typeface="Segoe UI"/>
                <a:cs typeface="Segoe UI"/>
              </a:rPr>
              <a:t>The explanation can be harder to find later.</a:t>
            </a:r>
          </a:p>
        </p:txBody>
      </p:sp>
      <p:sp>
        <p:nvSpPr>
          <p:cNvPr id="3" name="">
            <a:extLst xmlns:a="http://schemas.openxmlformats.org/drawingml/2006/main">
              <a:ext uri="{FF2B5EF4-FFF2-40B4-BE49-F238E27FC236}">
                <a16:creationId xmlns:a16="http://schemas.microsoft.com/office/drawing/2014/main" id="{7BEE62EC-FEAC-42AC-9F82-871297370A56}"/>
              </a:ext>
            </a:extLst>
          </p:cNvPr>
          <p:cNvSpPr>
            <a:spLocks xmlns:a="http://schemas.openxmlformats.org/drawingml/2006/main" noGrp="1"/>
          </p:cNvSpPr>
          <p:nvPr/>
        </p:nvSpPr>
        <p:spPr>
          <a:xfrm xmlns:a="http://schemas.openxmlformats.org/drawingml/2006/main">
            <a:off x="609600" y="342900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For Seeker users who want to reflect on their swaps,</a:t>
            </a:r>
          </a:p>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a record needs the original reason and a later review.</a:t>
            </a:r>
          </a:p>
        </p:txBody>
      </p:sp>
      <p:sp>
        <p:nvSpPr>
          <p:cNvPr id="4" name="">
            <a:extLst xmlns:a="http://schemas.openxmlformats.org/drawingml/2006/main">
              <a:ext uri="{FF2B5EF4-FFF2-40B4-BE49-F238E27FC236}">
                <a16:creationId xmlns:a16="http://schemas.microsoft.com/office/drawing/2014/main" id="{D25603A4-B1DA-4B42-A173-07B832833415}"/>
              </a:ext>
            </a:extLst>
          </p:cNvPr>
          <p:cNvSpPr>
            <a:spLocks xmlns:a="http://schemas.openxmlformats.org/drawingml/2006/main" noGrp="1"/>
          </p:cNvSpPr>
          <p:nvPr/>
        </p:nvSpPr>
        <p:spPr>
          <a:xfrm xmlns:a="http://schemas.openxmlformats.org/drawingml/2006/main">
            <a:off x="609600" y="49339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E25"/>
                </a:solidFill>
                <a:latin typeface="Segoe UI"/>
                <a:ea typeface="Segoe UI"/>
                <a:cs typeface="Segoe UI"/>
              </a:defRPr>
            </a:pPr>
            <a:r>
              <a:rPr sz="2175" b="0">
                <a:solidFill>
                  <a:srgbClr val="292E25"/>
                </a:solidFill>
                <a:latin typeface="Segoe UI"/>
                <a:ea typeface="Segoe UI"/>
                <a:cs typeface="Segoe UI"/>
              </a:rPr>
              <a:t>FOR THE RECORD attaches personal writing to a supported</a:t>
            </a:r>
          </a:p>
          <a:p xmlns:a="http://schemas.openxmlformats.org/drawingml/2006/main">
            <a:pPr>
              <a:defRPr sz="2175" b="0">
                <a:solidFill>
                  <a:srgbClr val="292E25"/>
                </a:solidFill>
                <a:latin typeface="Segoe UI"/>
                <a:ea typeface="Segoe UI"/>
                <a:cs typeface="Segoe UI"/>
              </a:defRPr>
            </a:pPr>
            <a:r>
              <a:rPr sz="2175" b="0">
                <a:solidFill>
                  <a:srgbClr val="292E25"/>
                </a:solidFill>
                <a:latin typeface="Segoe UI"/>
                <a:ea typeface="Segoe UI"/>
                <a:cs typeface="Segoe UI"/>
              </a:rPr>
              <a:t>transaction and preserves the first saved explanation.</a:t>
            </a:r>
          </a:p>
        </p:txBody>
      </p:sp>
      <p:sp>
        <p:nvSpPr>
          <p:cNvPr id="5" name="">
            <a:extLst xmlns:a="http://schemas.openxmlformats.org/drawingml/2006/main">
              <a:ext uri="{FF2B5EF4-FFF2-40B4-BE49-F238E27FC236}">
                <a16:creationId xmlns:a16="http://schemas.microsoft.com/office/drawing/2014/main" id="{9555B66D-4714-4CD1-8BB1-880B8B6B8AF2}"/>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2</a:t>
            </a:r>
          </a:p>
        </p:txBody>
      </p:sp>
    </p:spTree>
    <p:extLst>
      <p:ext uri="{BB962C8B-B14F-4D97-AF65-F5344CB8AC3E}">
        <p14:creationId xmlns:p14="http://schemas.microsoft.com/office/powerpoint/2010/main" val="1320413582"/>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A44203-9BC9-4FDE-842F-EEDFFB9BF57D}"/>
              </a:ext>
            </a:extLst>
          </p:cNvPr>
          <p:cNvSpPr>
            <a:spLocks xmlns:a="http://schemas.openxmlformats.org/drawingml/2006/main" noGrp="1"/>
          </p:cNvSpPr>
          <p:nvPr/>
        </p:nvSpPr>
        <p:spPr>
          <a:xfrm xmlns:a="http://schemas.openxmlformats.org/drawingml/2006/main">
            <a:off x="609600" y="60007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92E25"/>
                </a:solidFill>
                <a:latin typeface="Georgia"/>
                <a:ea typeface="Georgia"/>
                <a:cs typeface="Georgia"/>
              </a:defRPr>
            </a:pPr>
            <a:r>
              <a:rPr sz="4050" b="1">
                <a:solidFill>
                  <a:srgbClr val="292E25"/>
                </a:solidFill>
                <a:latin typeface="Georgia"/>
                <a:ea typeface="Georgia"/>
                <a:cs typeface="Georgia"/>
              </a:rPr>
              <a:t>Decision Replay</a:t>
            </a:r>
          </a:p>
        </p:txBody>
      </p:sp>
      <p:sp>
        <p:nvSpPr>
          <p:cNvPr id="2" name="">
            <a:extLst xmlns:a="http://schemas.openxmlformats.org/drawingml/2006/main">
              <a:ext uri="{FF2B5EF4-FFF2-40B4-BE49-F238E27FC236}">
                <a16:creationId xmlns:a16="http://schemas.microsoft.com/office/drawing/2014/main" id="{057DB8D0-AA59-47E9-88C5-18FF417721B8}"/>
              </a:ext>
            </a:extLst>
          </p:cNvPr>
          <p:cNvSpPr>
            <a:spLocks xmlns:a="http://schemas.openxmlformats.org/drawingml/2006/main" noGrp="1"/>
          </p:cNvSpPr>
          <p:nvPr/>
        </p:nvSpPr>
        <p:spPr>
          <a:xfrm xmlns:a="http://schemas.openxmlformats.org/drawingml/2006/main">
            <a:off x="609600" y="1914525"/>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65E44"/>
                </a:solidFill>
                <a:latin typeface="Segoe UI"/>
                <a:ea typeface="Segoe UI"/>
                <a:cs typeface="Segoe UI"/>
              </a:defRPr>
            </a:pPr>
            <a:r>
              <a:rPr sz="2325" b="1">
                <a:solidFill>
                  <a:srgbClr val="465E44"/>
                </a:solidFill>
                <a:latin typeface="Segoe UI"/>
                <a:ea typeface="Segoe UI"/>
                <a:cs typeface="Segoe UI"/>
              </a:rPr>
              <a:t>01   One reason is enough</a:t>
            </a:r>
          </a:p>
        </p:txBody>
      </p:sp>
      <p:sp>
        <p:nvSpPr>
          <p:cNvPr id="3" name="">
            <a:extLst xmlns:a="http://schemas.openxmlformats.org/drawingml/2006/main">
              <a:ext uri="{FF2B5EF4-FFF2-40B4-BE49-F238E27FC236}">
                <a16:creationId xmlns:a16="http://schemas.microsoft.com/office/drawing/2014/main" id="{CE5471FA-ABCB-4469-AB5B-617FCD159BEA}"/>
              </a:ext>
            </a:extLst>
          </p:cNvPr>
          <p:cNvSpPr>
            <a:spLocks xmlns:a="http://schemas.openxmlformats.org/drawingml/2006/main" noGrp="1"/>
          </p:cNvSpPr>
          <p:nvPr/>
        </p:nvSpPr>
        <p:spPr>
          <a:xfrm xmlns:a="http://schemas.openxmlformats.org/drawingml/2006/main">
            <a:off x="609600" y="2505075"/>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E25"/>
                </a:solidFill>
                <a:latin typeface="Segoe UI"/>
                <a:ea typeface="Segoe UI"/>
                <a:cs typeface="Segoe UI"/>
              </a:defRPr>
            </a:pPr>
            <a:r>
              <a:rPr sz="2025" b="0">
                <a:solidFill>
                  <a:srgbClr val="292E25"/>
                </a:solidFill>
                <a:latin typeface="Segoe UI"/>
                <a:ea typeface="Segoe UI"/>
                <a:cs typeface="Segoe UI"/>
              </a:rPr>
              <a:t>Choose supported activity and save your reason.</a:t>
            </a:r>
          </a:p>
          <a:p xmlns:a="http://schemas.openxmlformats.org/drawingml/2006/main">
            <a:pPr>
              <a:defRPr sz="2025" b="0">
                <a:solidFill>
                  <a:srgbClr val="292E25"/>
                </a:solidFill>
                <a:latin typeface="Segoe UI"/>
                <a:ea typeface="Segoe UI"/>
                <a:cs typeface="Segoe UI"/>
              </a:defRPr>
            </a:pPr>
            <a:r>
              <a:rPr sz="2025" b="0">
                <a:solidFill>
                  <a:srgbClr val="292E25"/>
                </a:solidFill>
                <a:latin typeface="Segoe UI"/>
                <a:ea typeface="Segoe UI"/>
                <a:cs typeface="Segoe UI"/>
              </a:rPr>
              <a:t>The other writing prompts are optional.</a:t>
            </a:r>
          </a:p>
        </p:txBody>
      </p:sp>
      <p:sp>
        <p:nvSpPr>
          <p:cNvPr id="4" name="">
            <a:extLst xmlns:a="http://schemas.openxmlformats.org/drawingml/2006/main">
              <a:ext uri="{FF2B5EF4-FFF2-40B4-BE49-F238E27FC236}">
                <a16:creationId xmlns:a16="http://schemas.microsoft.com/office/drawing/2014/main" id="{D5093D67-9EDB-4550-B1AB-84377EE76A22}"/>
              </a:ext>
            </a:extLst>
          </p:cNvPr>
          <p:cNvSpPr>
            <a:spLocks xmlns:a="http://schemas.openxmlformats.org/drawingml/2006/main" noGrp="1"/>
          </p:cNvSpPr>
          <p:nvPr/>
        </p:nvSpPr>
        <p:spPr>
          <a:xfrm xmlns:a="http://schemas.openxmlformats.org/drawingml/2006/main">
            <a:off x="609600" y="3686175"/>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65E44"/>
                </a:solidFill>
                <a:latin typeface="Segoe UI"/>
                <a:ea typeface="Segoe UI"/>
                <a:cs typeface="Segoe UI"/>
              </a:defRPr>
            </a:pPr>
            <a:r>
              <a:rPr sz="2325" b="1">
                <a:solidFill>
                  <a:srgbClr val="465E44"/>
                </a:solidFill>
                <a:latin typeface="Segoe UI"/>
                <a:ea typeface="Segoe UI"/>
                <a:cs typeface="Segoe UI"/>
              </a:rPr>
              <a:t>02   A specific moment to revisit</a:t>
            </a:r>
          </a:p>
        </p:txBody>
      </p:sp>
      <p:sp>
        <p:nvSpPr>
          <p:cNvPr id="5" name="">
            <a:extLst xmlns:a="http://schemas.openxmlformats.org/drawingml/2006/main">
              <a:ext uri="{FF2B5EF4-FFF2-40B4-BE49-F238E27FC236}">
                <a16:creationId xmlns:a16="http://schemas.microsoft.com/office/drawing/2014/main" id="{7677BB9B-FCB8-4C55-98B2-EFAF93FEFBCE}"/>
              </a:ext>
            </a:extLst>
          </p:cNvPr>
          <p:cNvSpPr>
            <a:spLocks xmlns:a="http://schemas.openxmlformats.org/drawingml/2006/main" noGrp="1"/>
          </p:cNvSpPr>
          <p:nvPr/>
        </p:nvSpPr>
        <p:spPr>
          <a:xfrm xmlns:a="http://schemas.openxmlformats.org/drawingml/2006/main">
            <a:off x="609600" y="4276725"/>
            <a:ext cx="7000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E25"/>
                </a:solidFill>
                <a:latin typeface="Segoe UI"/>
                <a:ea typeface="Segoe UI"/>
                <a:cs typeface="Segoe UI"/>
              </a:defRPr>
            </a:pPr>
            <a:r>
              <a:rPr sz="2025" b="0">
                <a:solidFill>
                  <a:srgbClr val="292E25"/>
                </a:solidFill>
                <a:latin typeface="Segoe UI"/>
                <a:ea typeface="Segoe UI"/>
                <a:cs typeface="Segoe UI"/>
              </a:rPr>
              <a:t>Choose 1, 3 or 7 days. Reopen the first note,</a:t>
            </a:r>
          </a:p>
          <a:p xmlns:a="http://schemas.openxmlformats.org/drawingml/2006/main">
            <a:pPr>
              <a:defRPr sz="2025" b="0">
                <a:solidFill>
                  <a:srgbClr val="292E25"/>
                </a:solidFill>
                <a:latin typeface="Segoe UI"/>
                <a:ea typeface="Segoe UI"/>
                <a:cs typeface="Segoe UI"/>
              </a:defRPr>
            </a:pPr>
            <a:r>
              <a:rPr sz="2025" b="0">
                <a:solidFill>
                  <a:srgbClr val="292E25"/>
                </a:solidFill>
                <a:latin typeface="Segoe UI"/>
                <a:ea typeface="Segoe UI"/>
                <a:cs typeface="Segoe UI"/>
              </a:rPr>
              <a:t>add a reflection, and keep a lesson with its source.</a:t>
            </a:r>
          </a:p>
        </p:txBody>
      </p:sp>
      <p:sp>
        <p:nvSpPr>
          <p:cNvPr id="6" name="">
            <a:extLst xmlns:a="http://schemas.openxmlformats.org/drawingml/2006/main">
              <a:ext uri="{FF2B5EF4-FFF2-40B4-BE49-F238E27FC236}">
                <a16:creationId xmlns:a16="http://schemas.microsoft.com/office/drawing/2014/main" id="{DADF7E65-1447-4EC7-9B25-865172C05AE2}"/>
              </a:ext>
            </a:extLst>
          </p:cNvPr>
          <p:cNvSpPr>
            <a:spLocks xmlns:a="http://schemas.openxmlformats.org/drawingml/2006/main" noGrp="1"/>
          </p:cNvSpPr>
          <p:nvPr/>
        </p:nvSpPr>
        <p:spPr>
          <a:xfrm xmlns:a="http://schemas.openxmlformats.org/drawingml/2006/main">
            <a:off x="609600" y="555307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7969"/>
                </a:solidFill>
                <a:latin typeface="Segoe UI"/>
                <a:ea typeface="Segoe UI"/>
                <a:cs typeface="Segoe UI"/>
              </a:defRPr>
            </a:pPr>
            <a:r>
              <a:rPr sz="1800" b="0">
                <a:solidFill>
                  <a:srgbClr val="717969"/>
                </a:solidFill>
                <a:latin typeface="Segoe UI"/>
                <a:ea typeface="Segoe UI"/>
                <a:cs typeface="Segoe UI"/>
              </a:rPr>
              <a:t>The app shows due records on its home screen.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c37c56d39ff41c6"/>
          <a:stretch xmlns:a="http://schemas.openxmlformats.org/drawingml/2006/main"/>
        </p:blipFill>
        <p:spPr>
          <a:xfrm xmlns:a="http://schemas.openxmlformats.org/drawingml/2006/main">
            <a:off x="8286750" y="419100"/>
            <a:ext cx="2571750" cy="5657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8254679-0043-45D7-9C31-45324F11264F}"/>
              </a:ext>
            </a:extLst>
          </p:cNvPr>
          <p:cNvSpPr>
            <a:spLocks xmlns:a="http://schemas.openxmlformats.org/drawingml/2006/main" noGrp="1"/>
          </p:cNvSpPr>
          <p:nvPr/>
        </p:nvSpPr>
        <p:spPr>
          <a:xfrm xmlns:a="http://schemas.openxmlformats.org/drawingml/2006/main">
            <a:off x="8134350" y="6115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UI test render / synthetic trade</a:t>
            </a:r>
          </a:p>
        </p:txBody>
      </p:sp>
      <p:sp>
        <p:nvSpPr>
          <p:cNvPr id="9" name="">
            <a:extLst xmlns:a="http://schemas.openxmlformats.org/drawingml/2006/main">
              <a:ext uri="{FF2B5EF4-FFF2-40B4-BE49-F238E27FC236}">
                <a16:creationId xmlns:a16="http://schemas.microsoft.com/office/drawing/2014/main" id="{89A76532-192B-4DBC-AE25-BB8E8323E6F6}"/>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3</a:t>
            </a:r>
          </a:p>
        </p:txBody>
      </p:sp>
    </p:spTree>
    <p:extLst>
      <p:ext uri="{BB962C8B-B14F-4D97-AF65-F5344CB8AC3E}">
        <p14:creationId xmlns:p14="http://schemas.microsoft.com/office/powerpoint/2010/main" val="575722208"/>
      </p:ext>
    </p:extLst>
  </p:cSld>
</p:sld>
</file>

<file path=ppt/slides/slide4.xml><?xml version="1.0" encoding="utf-8"?>
<p:sld xmlns:p="http://schemas.openxmlformats.org/presentationml/2006/main">
  <p:cSld>
    <p:bg>
      <p:bgPr>
        <a:solidFill xmlns:a="http://schemas.openxmlformats.org/drawingml/2006/main">
          <a:srgbClr val="465E4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D760E6-240B-4B44-B80D-B6DCF0A6C8C4}"/>
              </a:ext>
            </a:extLst>
          </p:cNvPr>
          <p:cNvSpPr>
            <a:spLocks xmlns:a="http://schemas.openxmlformats.org/drawingml/2006/main" noGrp="1"/>
          </p:cNvSpPr>
          <p:nvPr/>
        </p:nvSpPr>
        <p:spPr>
          <a:xfrm xmlns:a="http://schemas.openxmlformats.org/drawingml/2006/main">
            <a:off x="609600" y="5905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Georgia"/>
                <a:ea typeface="Georgia"/>
                <a:cs typeface="Georgia"/>
              </a:defRPr>
            </a:pPr>
            <a:r>
              <a:rPr sz="3900" b="1">
                <a:solidFill>
                  <a:srgbClr val="FFFFFF"/>
                </a:solidFill>
                <a:latin typeface="Georgia"/>
                <a:ea typeface="Georgia"/>
                <a:cs typeface="Georgia"/>
              </a:rPr>
              <a:t>A question for your writing</a:t>
            </a:r>
          </a:p>
        </p:txBody>
      </p:sp>
      <p:sp>
        <p:nvSpPr>
          <p:cNvPr id="2" name="">
            <a:extLst xmlns:a="http://schemas.openxmlformats.org/drawingml/2006/main">
              <a:ext uri="{FF2B5EF4-FFF2-40B4-BE49-F238E27FC236}">
                <a16:creationId xmlns:a16="http://schemas.microsoft.com/office/drawing/2014/main" id="{D43BC7DA-A949-4ABF-AA21-6987D56BDF0B}"/>
              </a:ext>
            </a:extLst>
          </p:cNvPr>
          <p:cNvSpPr>
            <a:spLocks xmlns:a="http://schemas.openxmlformats.org/drawingml/2006/main" noGrp="1"/>
          </p:cNvSpPr>
          <p:nvPr/>
        </p:nvSpPr>
        <p:spPr>
          <a:xfrm xmlns:a="http://schemas.openxmlformats.org/drawingml/2006/main">
            <a:off x="609600" y="1895475"/>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Segoe UI"/>
                <a:ea typeface="Segoe UI"/>
                <a:cs typeface="Segoe UI"/>
              </a:defRPr>
            </a:pPr>
            <a:r>
              <a:rPr sz="2625" b="1">
                <a:solidFill>
                  <a:srgbClr val="FFFFFF"/>
                </a:solidFill>
                <a:latin typeface="Segoe UI"/>
                <a:ea typeface="Segoe UI"/>
                <a:cs typeface="Segoe UI"/>
              </a:rPr>
              <a:t>AI runs on the phone</a:t>
            </a:r>
          </a:p>
        </p:txBody>
      </p:sp>
      <p:sp>
        <p:nvSpPr>
          <p:cNvPr id="3" name="">
            <a:extLst xmlns:a="http://schemas.openxmlformats.org/drawingml/2006/main">
              <a:ext uri="{FF2B5EF4-FFF2-40B4-BE49-F238E27FC236}">
                <a16:creationId xmlns:a16="http://schemas.microsoft.com/office/drawing/2014/main" id="{F720AAD6-E984-47CF-AAB6-CDB50EBDD9FF}"/>
              </a:ext>
            </a:extLst>
          </p:cNvPr>
          <p:cNvSpPr>
            <a:spLocks xmlns:a="http://schemas.openxmlformats.org/drawingml/2006/main" noGrp="1"/>
          </p:cNvSpPr>
          <p:nvPr/>
        </p:nvSpPr>
        <p:spPr>
          <a:xfrm xmlns:a="http://schemas.openxmlformats.org/drawingml/2006/main">
            <a:off x="609600" y="2619375"/>
            <a:ext cx="666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Segoe UI"/>
                <a:ea typeface="Segoe UI"/>
                <a:cs typeface="Segoe UI"/>
              </a:defRPr>
            </a:pPr>
            <a:r>
              <a:rPr sz="2250" b="0">
                <a:solidFill>
                  <a:srgbClr val="FFFFFF"/>
                </a:solidFill>
                <a:latin typeface="Segoe UI"/>
                <a:ea typeface="Segoe UI"/>
                <a:cs typeface="Segoe UI"/>
              </a:rPr>
              <a:t>133 MB optional download</a:t>
            </a:r>
          </a:p>
          <a:p xmlns:a="http://schemas.openxmlformats.org/drawingml/2006/main">
            <a:pPr>
              <a:defRPr sz="2250" b="0">
                <a:solidFill>
                  <a:srgbClr val="FFFFFF"/>
                </a:solidFill>
                <a:latin typeface="Segoe UI"/>
                <a:ea typeface="Segoe UI"/>
                <a:cs typeface="Segoe UI"/>
              </a:defRPr>
            </a:pPr>
            <a:r>
              <a:rPr sz="2250" b="0">
                <a:solidFill>
                  <a:srgbClr val="FFFFFF"/>
                </a:solidFill>
                <a:latin typeface="Segoe UI"/>
                <a:ea typeface="Segoe UI"/>
                <a:cs typeface="Segoe UI"/>
              </a:rPr>
              <a:t>No API account or paid inference service</a:t>
            </a:r>
          </a:p>
        </p:txBody>
      </p:sp>
      <p:sp>
        <p:nvSpPr>
          <p:cNvPr id="4" name="">
            <a:extLst xmlns:a="http://schemas.openxmlformats.org/drawingml/2006/main">
              <a:ext uri="{FF2B5EF4-FFF2-40B4-BE49-F238E27FC236}">
                <a16:creationId xmlns:a16="http://schemas.microsoft.com/office/drawing/2014/main" id="{06175CFA-D660-44DC-9913-AFCFD7AF7445}"/>
              </a:ext>
            </a:extLst>
          </p:cNvPr>
          <p:cNvSpPr>
            <a:spLocks xmlns:a="http://schemas.openxmlformats.org/drawingml/2006/main" noGrp="1"/>
          </p:cNvSpPr>
          <p:nvPr/>
        </p:nvSpPr>
        <p:spPr>
          <a:xfrm xmlns:a="http://schemas.openxmlformats.org/drawingml/2006/main">
            <a:off x="609600" y="3990975"/>
            <a:ext cx="685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Segoe UI"/>
                <a:ea typeface="Segoe UI"/>
                <a:cs typeface="Segoe UI"/>
              </a:defRPr>
            </a:pPr>
            <a:r>
              <a:rPr sz="2850" b="1">
                <a:solidFill>
                  <a:srgbClr val="FFFFFF"/>
                </a:solidFill>
                <a:latin typeface="Segoe UI"/>
                <a:ea typeface="Segoe UI"/>
                <a:cs typeface="Segoe UI"/>
              </a:rPr>
              <a:t>1.66 s first request</a:t>
            </a:r>
          </a:p>
          <a:p xmlns:a="http://schemas.openxmlformats.org/drawingml/2006/main">
            <a:pPr>
              <a:defRPr sz="2850" b="1">
                <a:solidFill>
                  <a:srgbClr val="FFFFFF"/>
                </a:solidFill>
                <a:latin typeface="Segoe UI"/>
                <a:ea typeface="Segoe UI"/>
                <a:cs typeface="Segoe UI"/>
              </a:defRPr>
            </a:pPr>
            <a:r>
              <a:rPr sz="2850" b="1">
                <a:solidFill>
                  <a:srgbClr val="FFFFFF"/>
                </a:solidFill>
                <a:latin typeface="Segoe UI"/>
                <a:ea typeface="Segoe UI"/>
                <a:cs typeface="Segoe UI"/>
              </a:rPr>
              <a:t>0.03–0.07 s while warm</a:t>
            </a:r>
          </a:p>
        </p:txBody>
      </p:sp>
      <p:sp>
        <p:nvSpPr>
          <p:cNvPr id="5" name="">
            <a:extLst xmlns:a="http://schemas.openxmlformats.org/drawingml/2006/main">
              <a:ext uri="{FF2B5EF4-FFF2-40B4-BE49-F238E27FC236}">
                <a16:creationId xmlns:a16="http://schemas.microsoft.com/office/drawing/2014/main" id="{E9ACD8CD-60A1-4F41-80B7-14F09FDDA626}"/>
              </a:ext>
            </a:extLst>
          </p:cNvPr>
          <p:cNvSpPr>
            <a:spLocks xmlns:a="http://schemas.openxmlformats.org/drawingml/2006/main" noGrp="1"/>
          </p:cNvSpPr>
          <p:nvPr/>
        </p:nvSpPr>
        <p:spPr>
          <a:xfrm xmlns:a="http://schemas.openxmlformats.org/drawingml/2006/main">
            <a:off x="609600" y="5438775"/>
            <a:ext cx="707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5EBDF"/>
                </a:solidFill>
                <a:latin typeface="Segoe UI"/>
                <a:ea typeface="Segoe UI"/>
                <a:cs typeface="Segoe UI"/>
              </a:defRPr>
            </a:pPr>
            <a:r>
              <a:rPr sz="1800" b="0">
                <a:solidFill>
                  <a:srgbClr val="E5EBDF"/>
                </a:solidFill>
                <a:latin typeface="Segoe UI"/>
                <a:ea typeface="Segoe UI"/>
                <a:cs typeface="Segoe UI"/>
              </a:rPr>
              <a:t>The model selects a question. You write the answer.</a:t>
            </a:r>
          </a:p>
          <a:p xmlns:a="http://schemas.openxmlformats.org/drawingml/2006/main">
            <a:pPr>
              <a:defRPr sz="1800" b="0">
                <a:solidFill>
                  <a:srgbClr val="E5EBDF"/>
                </a:solidFill>
                <a:latin typeface="Segoe UI"/>
                <a:ea typeface="Segoe UI"/>
                <a:cs typeface="Segoe UI"/>
              </a:defRPr>
            </a:pPr>
            <a:r>
              <a:rPr sz="1800" b="0">
                <a:solidFill>
                  <a:srgbClr val="E5EBDF"/>
                </a:solidFill>
                <a:latin typeface="Segoe UI"/>
                <a:ea typeface="Segoe UI"/>
                <a:cs typeface="Segoe UI"/>
              </a:rPr>
              <a:t>When topics are close, you choose between two.</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775315f90347ff"/>
          <a:stretch xmlns:a="http://schemas.openxmlformats.org/drawingml/2006/main"/>
        </p:blipFill>
        <p:spPr>
          <a:xfrm xmlns:a="http://schemas.openxmlformats.org/drawingml/2006/main">
            <a:off x="8306603" y="1552575"/>
            <a:ext cx="2046270" cy="4552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B83C8D3-B0AD-4C19-92FA-147616CEE21C}"/>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3DBC9"/>
                </a:solidFill>
                <a:latin typeface="Segoe UI"/>
                <a:ea typeface="Segoe UI"/>
                <a:cs typeface="Segoe UI"/>
              </a:defRPr>
            </a:pPr>
            <a:r>
              <a:rPr sz="1200" b="0">
                <a:solidFill>
                  <a:srgbClr val="D3DBC9"/>
                </a:solidFill>
                <a:latin typeface="Segoe UI"/>
                <a:ea typeface="Segoe UI"/>
                <a:cs typeface="Segoe UI"/>
              </a:rPr>
              <a:t>FOR THE RECORD   /   0.5.1   /   4</a:t>
            </a:r>
          </a:p>
        </p:txBody>
      </p:sp>
    </p:spTree>
    <p:extLst>
      <p:ext uri="{BB962C8B-B14F-4D97-AF65-F5344CB8AC3E}">
        <p14:creationId xmlns:p14="http://schemas.microsoft.com/office/powerpoint/2010/main" val="16082537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329C4-846B-4DE6-BFEA-AA7659CCB928}"/>
              </a:ext>
            </a:extLst>
          </p:cNvPr>
          <p:cNvSpPr>
            <a:spLocks xmlns:a="http://schemas.openxmlformats.org/drawingml/2006/main" noGrp="1"/>
          </p:cNvSpPr>
          <p:nvPr/>
        </p:nvSpPr>
        <p:spPr>
          <a:xfrm xmlns:a="http://schemas.openxmlformats.org/drawingml/2006/main">
            <a:off x="609600" y="6096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92E25"/>
                </a:solidFill>
                <a:latin typeface="Georgia"/>
                <a:ea typeface="Georgia"/>
                <a:cs typeface="Georgia"/>
              </a:defRPr>
            </a:pPr>
            <a:r>
              <a:rPr sz="3900" b="1">
                <a:solidFill>
                  <a:srgbClr val="292E25"/>
                </a:solidFill>
                <a:latin typeface="Georgia"/>
                <a:ea typeface="Georgia"/>
                <a:cs typeface="Georgia"/>
              </a:rPr>
              <a:t>Solana context, private writing</a:t>
            </a:r>
          </a:p>
        </p:txBody>
      </p:sp>
      <p:sp>
        <p:nvSpPr>
          <p:cNvPr id="2" name="">
            <a:extLst xmlns:a="http://schemas.openxmlformats.org/drawingml/2006/main">
              <a:ext uri="{FF2B5EF4-FFF2-40B4-BE49-F238E27FC236}">
                <a16:creationId xmlns:a16="http://schemas.microsoft.com/office/drawing/2014/main" id="{C8A17503-1D36-46CD-A245-BB8B9C7C0B44}"/>
              </a:ext>
            </a:extLst>
          </p:cNvPr>
          <p:cNvSpPr>
            <a:spLocks xmlns:a="http://schemas.openxmlformats.org/drawingml/2006/main" noGrp="1"/>
          </p:cNvSpPr>
          <p:nvPr/>
        </p:nvSpPr>
        <p:spPr>
          <a:xfrm xmlns:a="http://schemas.openxmlformats.org/drawingml/2006/main">
            <a:off x="609600" y="19335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465E44"/>
                </a:solidFill>
                <a:latin typeface="Segoe UI"/>
                <a:ea typeface="Segoe UI"/>
                <a:cs typeface="Segoe UI"/>
              </a:defRPr>
            </a:pPr>
            <a:r>
              <a:rPr sz="2625" b="1">
                <a:solidFill>
                  <a:srgbClr val="465E44"/>
                </a:solidFill>
                <a:latin typeface="Segoe UI"/>
                <a:ea typeface="Segoe UI"/>
                <a:cs typeface="Segoe UI"/>
              </a:rPr>
              <a:t>Native Mobile Wallet Adapter</a:t>
            </a:r>
          </a:p>
        </p:txBody>
      </p:sp>
      <p:sp>
        <p:nvSpPr>
          <p:cNvPr id="3" name="">
            <a:extLst xmlns:a="http://schemas.openxmlformats.org/drawingml/2006/main">
              <a:ext uri="{FF2B5EF4-FFF2-40B4-BE49-F238E27FC236}">
                <a16:creationId xmlns:a16="http://schemas.microsoft.com/office/drawing/2014/main" id="{D3A2AD33-ACD1-4D8A-A750-AAA79C646DA2}"/>
              </a:ext>
            </a:extLst>
          </p:cNvPr>
          <p:cNvSpPr>
            <a:spLocks xmlns:a="http://schemas.openxmlformats.org/drawingml/2006/main" noGrp="1"/>
          </p:cNvSpPr>
          <p:nvPr/>
        </p:nvSpPr>
        <p:spPr>
          <a:xfrm xmlns:a="http://schemas.openxmlformats.org/drawingml/2006/main">
            <a:off x="609600" y="2543175"/>
            <a:ext cx="1047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92E25"/>
                </a:solidFill>
                <a:latin typeface="Segoe UI"/>
                <a:ea typeface="Segoe UI"/>
                <a:cs typeface="Segoe UI"/>
              </a:defRPr>
            </a:pPr>
            <a:r>
              <a:rPr sz="2325" b="0">
                <a:solidFill>
                  <a:srgbClr val="292E25"/>
                </a:solidFill>
                <a:latin typeface="Segoe UI"/>
                <a:ea typeface="Segoe UI"/>
                <a:cs typeface="Segoe UI"/>
              </a:rPr>
              <a:t>The connected account anchors a public activity read.</a:t>
            </a:r>
          </a:p>
          <a:p xmlns:a="http://schemas.openxmlformats.org/drawingml/2006/main">
            <a:pPr>
              <a:defRPr sz="2325" b="0">
                <a:solidFill>
                  <a:srgbClr val="292E25"/>
                </a:solidFill>
                <a:latin typeface="Segoe UI"/>
                <a:ea typeface="Segoe UI"/>
                <a:cs typeface="Segoe UI"/>
              </a:defRPr>
            </a:pPr>
            <a:r>
              <a:rPr sz="2325" b="0">
                <a:solidFill>
                  <a:srgbClr val="292E25"/>
                </a:solidFill>
                <a:latin typeface="Segoe UI"/>
                <a:ea typeface="Segoe UI"/>
                <a:cs typeface="Segoe UI"/>
              </a:rPr>
              <a:t>The journal requests no transaction signature.</a:t>
            </a:r>
          </a:p>
        </p:txBody>
      </p:sp>
      <p:sp>
        <p:nvSpPr>
          <p:cNvPr id="4" name="">
            <a:extLst xmlns:a="http://schemas.openxmlformats.org/drawingml/2006/main">
              <a:ext uri="{FF2B5EF4-FFF2-40B4-BE49-F238E27FC236}">
                <a16:creationId xmlns:a16="http://schemas.microsoft.com/office/drawing/2014/main" id="{38AB21E3-331B-479A-98BC-C410BDBE7F15}"/>
              </a:ext>
            </a:extLst>
          </p:cNvPr>
          <p:cNvSpPr>
            <a:spLocks xmlns:a="http://schemas.openxmlformats.org/drawingml/2006/main" noGrp="1"/>
          </p:cNvSpPr>
          <p:nvPr/>
        </p:nvSpPr>
        <p:spPr>
          <a:xfrm xmlns:a="http://schemas.openxmlformats.org/drawingml/2006/main">
            <a:off x="609600" y="40386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465E44"/>
                </a:solidFill>
                <a:latin typeface="Segoe UI"/>
                <a:ea typeface="Segoe UI"/>
                <a:cs typeface="Segoe UI"/>
              </a:defRPr>
            </a:pPr>
            <a:r>
              <a:rPr sz="2625" b="1">
                <a:solidFill>
                  <a:srgbClr val="465E44"/>
                </a:solidFill>
                <a:latin typeface="Segoe UI"/>
                <a:ea typeface="Segoe UI"/>
                <a:cs typeface="Segoe UI"/>
              </a:rPr>
              <a:t>Personal writing stays on the device</a:t>
            </a:r>
          </a:p>
        </p:txBody>
      </p:sp>
      <p:sp>
        <p:nvSpPr>
          <p:cNvPr id="5" name="">
            <a:extLst xmlns:a="http://schemas.openxmlformats.org/drawingml/2006/main">
              <a:ext uri="{FF2B5EF4-FFF2-40B4-BE49-F238E27FC236}">
                <a16:creationId xmlns:a16="http://schemas.microsoft.com/office/drawing/2014/main" id="{3DAAEA7C-F7C9-4481-94D3-CBE4A872BF40}"/>
              </a:ext>
            </a:extLst>
          </p:cNvPr>
          <p:cNvSpPr>
            <a:spLocks xmlns:a="http://schemas.openxmlformats.org/drawingml/2006/main" noGrp="1"/>
          </p:cNvSpPr>
          <p:nvPr/>
        </p:nvSpPr>
        <p:spPr>
          <a:xfrm xmlns:a="http://schemas.openxmlformats.org/drawingml/2006/main">
            <a:off x="609600" y="467677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SQLite keeps the original reason, later review and lesson.</a:t>
            </a:r>
          </a:p>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The AI receives bounded note text locally.</a:t>
            </a:r>
          </a:p>
        </p:txBody>
      </p:sp>
      <p:sp>
        <p:nvSpPr>
          <p:cNvPr id="6" name="">
            <a:extLst xmlns:a="http://schemas.openxmlformats.org/drawingml/2006/main">
              <a:ext uri="{FF2B5EF4-FFF2-40B4-BE49-F238E27FC236}">
                <a16:creationId xmlns:a16="http://schemas.microsoft.com/office/drawing/2014/main" id="{A73A8BF4-F252-4320-AE4D-F836735151F2}"/>
              </a:ext>
            </a:extLst>
          </p:cNvPr>
          <p:cNvSpPr>
            <a:spLocks xmlns:a="http://schemas.openxmlformats.org/drawingml/2006/main" noGrp="1"/>
          </p:cNvSpPr>
          <p:nvPr/>
        </p:nvSpPr>
        <p:spPr>
          <a:xfrm xmlns:a="http://schemas.openxmlformats.org/drawingml/2006/main">
            <a:off x="609600" y="59150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17969"/>
                </a:solidFill>
                <a:latin typeface="Segoe UI"/>
                <a:ea typeface="Segoe UI"/>
                <a:cs typeface="Segoe UI"/>
              </a:defRPr>
            </a:pPr>
            <a:r>
              <a:rPr sz="1425" b="0">
                <a:solidFill>
                  <a:srgbClr val="717969"/>
                </a:solidFill>
                <a:latin typeface="Segoe UI"/>
                <a:ea typeface="Segoe UI"/>
                <a:cs typeface="Segoe UI"/>
              </a:rPr>
              <a:t>Current parser: selected finalized Jupiter v6 swaps with classic SPL tokens. Other activity stays unsupported.</a:t>
            </a:r>
          </a:p>
        </p:txBody>
      </p:sp>
      <p:sp>
        <p:nvSpPr>
          <p:cNvPr id="7" name="">
            <a:extLst xmlns:a="http://schemas.openxmlformats.org/drawingml/2006/main">
              <a:ext uri="{FF2B5EF4-FFF2-40B4-BE49-F238E27FC236}">
                <a16:creationId xmlns:a16="http://schemas.microsoft.com/office/drawing/2014/main" id="{7CEA5CFF-6EF2-4590-8362-6E4B6AB09AE0}"/>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5</a:t>
            </a:r>
          </a:p>
        </p:txBody>
      </p:sp>
    </p:spTree>
    <p:extLst>
      <p:ext uri="{BB962C8B-B14F-4D97-AF65-F5344CB8AC3E}">
        <p14:creationId xmlns:p14="http://schemas.microsoft.com/office/powerpoint/2010/main" val="160368871"/>
      </p:ext>
    </p:extLst>
  </p:cSld>
</p:sld>
</file>

<file path=ppt/slides/slide6.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9E3CEB-C80F-43FD-A1BA-7CC0E30200DF}"/>
              </a:ext>
            </a:extLst>
          </p:cNvPr>
          <p:cNvSpPr>
            <a:spLocks xmlns:a="http://schemas.openxmlformats.org/drawingml/2006/main" noGrp="1"/>
          </p:cNvSpPr>
          <p:nvPr/>
        </p:nvSpPr>
        <p:spPr>
          <a:xfrm xmlns:a="http://schemas.openxmlformats.org/drawingml/2006/main">
            <a:off x="609600" y="619125"/>
            <a:ext cx="7715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92E25"/>
                </a:solidFill>
                <a:latin typeface="Georgia"/>
                <a:ea typeface="Georgia"/>
                <a:cs typeface="Georgia"/>
              </a:defRPr>
            </a:pPr>
            <a:r>
              <a:rPr sz="4050" b="1">
                <a:solidFill>
                  <a:srgbClr val="292E25"/>
                </a:solidFill>
                <a:latin typeface="Georgia"/>
                <a:ea typeface="Georgia"/>
                <a:cs typeface="Georgia"/>
              </a:rPr>
              <a:t>A room worth returning to</a:t>
            </a:r>
          </a:p>
        </p:txBody>
      </p:sp>
      <p:sp>
        <p:nvSpPr>
          <p:cNvPr id="2" name="">
            <a:extLst xmlns:a="http://schemas.openxmlformats.org/drawingml/2006/main">
              <a:ext uri="{FF2B5EF4-FFF2-40B4-BE49-F238E27FC236}">
                <a16:creationId xmlns:a16="http://schemas.microsoft.com/office/drawing/2014/main" id="{5A914C18-0886-46E5-ADAE-59C0983D6EF7}"/>
              </a:ext>
            </a:extLst>
          </p:cNvPr>
          <p:cNvSpPr>
            <a:spLocks xmlns:a="http://schemas.openxmlformats.org/drawingml/2006/main" noGrp="1"/>
          </p:cNvSpPr>
          <p:nvPr/>
        </p:nvSpPr>
        <p:spPr>
          <a:xfrm xmlns:a="http://schemas.openxmlformats.org/drawingml/2006/main">
            <a:off x="609600" y="2524125"/>
            <a:ext cx="700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A skippable guide introduces the room.</a:t>
            </a:r>
          </a:p>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The lamp begins a focus session.</a:t>
            </a:r>
          </a:p>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A saved next action starts the next visit.</a:t>
            </a:r>
          </a:p>
        </p:txBody>
      </p:sp>
      <p:sp>
        <p:nvSpPr>
          <p:cNvPr id="3" name="">
            <a:extLst xmlns:a="http://schemas.openxmlformats.org/drawingml/2006/main">
              <a:ext uri="{FF2B5EF4-FFF2-40B4-BE49-F238E27FC236}">
                <a16:creationId xmlns:a16="http://schemas.microsoft.com/office/drawing/2014/main" id="{E9FDCEDB-D1CB-4FF7-B3F8-44519B7BC208}"/>
              </a:ext>
            </a:extLst>
          </p:cNvPr>
          <p:cNvSpPr>
            <a:spLocks xmlns:a="http://schemas.openxmlformats.org/drawingml/2006/main" noGrp="1"/>
          </p:cNvSpPr>
          <p:nvPr/>
        </p:nvSpPr>
        <p:spPr>
          <a:xfrm xmlns:a="http://schemas.openxmlformats.org/drawingml/2006/main">
            <a:off x="609600" y="44958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65E44"/>
                </a:solidFill>
                <a:latin typeface="Segoe UI"/>
                <a:ea typeface="Segoe UI"/>
                <a:cs typeface="Segoe UI"/>
              </a:defRPr>
            </a:pPr>
            <a:r>
              <a:rPr sz="2325" b="0">
                <a:solidFill>
                  <a:srgbClr val="465E44"/>
                </a:solidFill>
                <a:latin typeface="Segoe UI"/>
                <a:ea typeface="Segoe UI"/>
                <a:cs typeface="Segoe UI"/>
              </a:rPr>
              <a:t>The same reflection habit works</a:t>
            </a:r>
          </a:p>
          <a:p xmlns:a="http://schemas.openxmlformats.org/drawingml/2006/main">
            <a:pPr>
              <a:defRPr sz="2325" b="0">
                <a:solidFill>
                  <a:srgbClr val="465E44"/>
                </a:solidFill>
                <a:latin typeface="Segoe UI"/>
                <a:ea typeface="Segoe UI"/>
                <a:cs typeface="Segoe UI"/>
              </a:defRPr>
            </a:pPr>
            <a:r>
              <a:rPr sz="2325" b="0">
                <a:solidFill>
                  <a:srgbClr val="465E44"/>
                </a:solidFill>
                <a:latin typeface="Segoe UI"/>
                <a:ea typeface="Segoe UI"/>
                <a:cs typeface="Segoe UI"/>
              </a:rPr>
              <a:t>for building, learning and wallet decisions.</a:t>
            </a:r>
          </a:p>
        </p:txBody>
      </p:sp>
      <p:sp>
        <p:nvSpPr>
          <p:cNvPr id="4" name="">
            <a:extLst xmlns:a="http://schemas.openxmlformats.org/drawingml/2006/main">
              <a:ext uri="{FF2B5EF4-FFF2-40B4-BE49-F238E27FC236}">
                <a16:creationId xmlns:a16="http://schemas.microsoft.com/office/drawing/2014/main" id="{C360F907-D456-4A74-9220-10735E26791A}"/>
              </a:ext>
            </a:extLst>
          </p:cNvPr>
          <p:cNvSpPr>
            <a:spLocks xmlns:a="http://schemas.openxmlformats.org/drawingml/2006/main" noGrp="1"/>
          </p:cNvSpPr>
          <p:nvPr/>
        </p:nvSpPr>
        <p:spPr>
          <a:xfrm xmlns:a="http://schemas.openxmlformats.org/drawingml/2006/main">
            <a:off x="609600" y="561975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7969"/>
                </a:solidFill>
                <a:latin typeface="Segoe UI"/>
                <a:ea typeface="Segoe UI"/>
                <a:cs typeface="Segoe UI"/>
              </a:defRPr>
            </a:pPr>
            <a:r>
              <a:rPr sz="1800" b="0">
                <a:solidFill>
                  <a:srgbClr val="717969"/>
                </a:solidFill>
                <a:latin typeface="Segoe UI"/>
                <a:ea typeface="Segoe UI"/>
                <a:cs typeface="Segoe UI"/>
              </a:rPr>
              <a:t>Eight UI languages. Optional reduced motion.</a:t>
            </a:r>
          </a:p>
          <a:p xmlns:a="http://schemas.openxmlformats.org/drawingml/2006/main">
            <a:pPr>
              <a:defRPr sz="1800" b="0">
                <a:solidFill>
                  <a:srgbClr val="717969"/>
                </a:solidFill>
                <a:latin typeface="Segoe UI"/>
                <a:ea typeface="Segoe UI"/>
                <a:cs typeface="Segoe UI"/>
              </a:defRPr>
            </a:pPr>
            <a:r>
              <a:rPr sz="1800" b="0">
                <a:solidFill>
                  <a:srgbClr val="717969"/>
                </a:solidFill>
                <a:latin typeface="Segoe UI"/>
                <a:ea typeface="Segoe UI"/>
                <a:cs typeface="Segoe UI"/>
              </a:rPr>
              <a:t>Work notes remain available offline.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ab7a2f5c7ff474b"/>
          <a:stretch xmlns:a="http://schemas.openxmlformats.org/drawingml/2006/main"/>
        </p:blipFill>
        <p:spPr>
          <a:xfrm xmlns:a="http://schemas.openxmlformats.org/drawingml/2006/main">
            <a:off x="8496300" y="401836"/>
            <a:ext cx="2524125" cy="56161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8F03E3-3B33-4C66-B08F-168500AAEA16}"/>
              </a:ext>
            </a:extLst>
          </p:cNvPr>
          <p:cNvSpPr>
            <a:spLocks xmlns:a="http://schemas.openxmlformats.org/drawingml/2006/main" noGrp="1"/>
          </p:cNvSpPr>
          <p:nvPr/>
        </p:nvSpPr>
        <p:spPr>
          <a:xfrm xmlns:a="http://schemas.openxmlformats.org/drawingml/2006/main">
            <a:off x="8248650"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Physical Seeker / release 0.5.1</a:t>
            </a:r>
          </a:p>
        </p:txBody>
      </p:sp>
      <p:sp>
        <p:nvSpPr>
          <p:cNvPr id="7" name="">
            <a:extLst xmlns:a="http://schemas.openxmlformats.org/drawingml/2006/main">
              <a:ext uri="{FF2B5EF4-FFF2-40B4-BE49-F238E27FC236}">
                <a16:creationId xmlns:a16="http://schemas.microsoft.com/office/drawing/2014/main" id="{3F080582-9E3E-4755-AD11-3F0081789010}"/>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6</a:t>
            </a:r>
          </a:p>
        </p:txBody>
      </p:sp>
    </p:spTree>
    <p:extLst>
      <p:ext uri="{BB962C8B-B14F-4D97-AF65-F5344CB8AC3E}">
        <p14:creationId xmlns:p14="http://schemas.microsoft.com/office/powerpoint/2010/main" val="15515000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0E23D0-B0C9-46F0-B1E5-A63F0026038D}"/>
              </a:ext>
            </a:extLst>
          </p:cNvPr>
          <p:cNvSpPr>
            <a:spLocks xmlns:a="http://schemas.openxmlformats.org/drawingml/2006/main" noGrp="1"/>
          </p:cNvSpPr>
          <p:nvPr/>
        </p:nvSpPr>
        <p:spPr>
          <a:xfrm xmlns:a="http://schemas.openxmlformats.org/drawingml/2006/main">
            <a:off x="609600" y="609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92E25"/>
                </a:solidFill>
                <a:latin typeface="Georgia"/>
                <a:ea typeface="Georgia"/>
                <a:cs typeface="Georgia"/>
              </a:defRPr>
            </a:pPr>
            <a:r>
              <a:rPr sz="4050" b="1">
                <a:solidFill>
                  <a:srgbClr val="292E25"/>
                </a:solidFill>
                <a:latin typeface="Georgia"/>
                <a:ea typeface="Georgia"/>
                <a:cs typeface="Georgia"/>
              </a:rPr>
              <a:t>Measured on Seeker</a:t>
            </a:r>
          </a:p>
        </p:txBody>
      </p:sp>
      <p:sp>
        <p:nvSpPr>
          <p:cNvPr id="2" name="">
            <a:extLst xmlns:a="http://schemas.openxmlformats.org/drawingml/2006/main">
              <a:ext uri="{FF2B5EF4-FFF2-40B4-BE49-F238E27FC236}">
                <a16:creationId xmlns:a16="http://schemas.microsoft.com/office/drawing/2014/main" id="{8FF085C9-7556-41C6-9EE9-1A02803DABDF}"/>
              </a:ext>
            </a:extLst>
          </p:cNvPr>
          <p:cNvSpPr>
            <a:spLocks xmlns:a="http://schemas.openxmlformats.org/drawingml/2006/main" noGrp="1"/>
          </p:cNvSpPr>
          <p:nvPr/>
        </p:nvSpPr>
        <p:spPr>
          <a:xfrm xmlns:a="http://schemas.openxmlformats.org/drawingml/2006/main">
            <a:off x="609600" y="19716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465E44"/>
                </a:solidFill>
                <a:latin typeface="Segoe UI"/>
                <a:ea typeface="Segoe UI"/>
                <a:cs typeface="Segoe UI"/>
              </a:defRPr>
            </a:pPr>
            <a:r>
              <a:rPr sz="6600" b="1">
                <a:solidFill>
                  <a:srgbClr val="465E44"/>
                </a:solidFill>
                <a:latin typeface="Segoe UI"/>
                <a:ea typeface="Segoe UI"/>
                <a:cs typeface="Segoe UI"/>
              </a:rPr>
              <a:t>93</a:t>
            </a:r>
          </a:p>
        </p:txBody>
      </p:sp>
      <p:sp>
        <p:nvSpPr>
          <p:cNvPr id="3" name="">
            <a:extLst xmlns:a="http://schemas.openxmlformats.org/drawingml/2006/main">
              <a:ext uri="{FF2B5EF4-FFF2-40B4-BE49-F238E27FC236}">
                <a16:creationId xmlns:a16="http://schemas.microsoft.com/office/drawing/2014/main" id="{8267C192-E1F1-40B7-99FB-499E8ED02673}"/>
              </a:ext>
            </a:extLst>
          </p:cNvPr>
          <p:cNvSpPr>
            <a:spLocks xmlns:a="http://schemas.openxmlformats.org/drawingml/2006/main" noGrp="1"/>
          </p:cNvSpPr>
          <p:nvPr/>
        </p:nvSpPr>
        <p:spPr>
          <a:xfrm xmlns:a="http://schemas.openxmlformats.org/drawingml/2006/main">
            <a:off x="609600" y="307657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E25"/>
                </a:solidFill>
                <a:latin typeface="Segoe UI"/>
                <a:ea typeface="Segoe UI"/>
                <a:cs typeface="Segoe UI"/>
              </a:defRPr>
            </a:pPr>
            <a:r>
              <a:rPr sz="2175" b="0">
                <a:solidFill>
                  <a:srgbClr val="292E25"/>
                </a:solidFill>
                <a:latin typeface="Segoe UI"/>
                <a:ea typeface="Segoe UI"/>
                <a:cs typeface="Segoe UI"/>
              </a:rPr>
              <a:t>app tests passed</a:t>
            </a:r>
          </a:p>
        </p:txBody>
      </p:sp>
      <p:sp>
        <p:nvSpPr>
          <p:cNvPr id="4" name="">
            <a:extLst xmlns:a="http://schemas.openxmlformats.org/drawingml/2006/main">
              <a:ext uri="{FF2B5EF4-FFF2-40B4-BE49-F238E27FC236}">
                <a16:creationId xmlns:a16="http://schemas.microsoft.com/office/drawing/2014/main" id="{85B76338-BDF9-440B-AB4D-FC1D8E91B780}"/>
              </a:ext>
            </a:extLst>
          </p:cNvPr>
          <p:cNvSpPr>
            <a:spLocks xmlns:a="http://schemas.openxmlformats.org/drawingml/2006/main" noGrp="1"/>
          </p:cNvSpPr>
          <p:nvPr/>
        </p:nvSpPr>
        <p:spPr>
          <a:xfrm xmlns:a="http://schemas.openxmlformats.org/drawingml/2006/main">
            <a:off x="5514975" y="1971675"/>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465E44"/>
                </a:solidFill>
                <a:latin typeface="Segoe UI"/>
                <a:ea typeface="Segoe UI"/>
                <a:cs typeface="Segoe UI"/>
              </a:defRPr>
            </a:pPr>
            <a:r>
              <a:rPr sz="6600" b="1">
                <a:solidFill>
                  <a:srgbClr val="465E44"/>
                </a:solidFill>
                <a:latin typeface="Segoe UI"/>
                <a:ea typeface="Segoe UI"/>
                <a:cs typeface="Segoe UI"/>
              </a:rPr>
              <a:t>26 / 30</a:t>
            </a:r>
          </a:p>
        </p:txBody>
      </p:sp>
      <p:sp>
        <p:nvSpPr>
          <p:cNvPr id="5" name="">
            <a:extLst xmlns:a="http://schemas.openxmlformats.org/drawingml/2006/main">
              <a:ext uri="{FF2B5EF4-FFF2-40B4-BE49-F238E27FC236}">
                <a16:creationId xmlns:a16="http://schemas.microsoft.com/office/drawing/2014/main" id="{004EC37F-7271-4C3D-B5A1-A771B2FF0D70}"/>
              </a:ext>
            </a:extLst>
          </p:cNvPr>
          <p:cNvSpPr>
            <a:spLocks xmlns:a="http://schemas.openxmlformats.org/drawingml/2006/main" noGrp="1"/>
          </p:cNvSpPr>
          <p:nvPr/>
        </p:nvSpPr>
        <p:spPr>
          <a:xfrm xmlns:a="http://schemas.openxmlformats.org/drawingml/2006/main">
            <a:off x="5514975" y="310515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E25"/>
                </a:solidFill>
                <a:latin typeface="Segoe UI"/>
                <a:ea typeface="Segoe UI"/>
                <a:cs typeface="Segoe UI"/>
              </a:defRPr>
            </a:pPr>
            <a:r>
              <a:rPr sz="2175" b="0">
                <a:solidFill>
                  <a:srgbClr val="292E25"/>
                </a:solidFill>
                <a:latin typeface="Segoe UI"/>
                <a:ea typeface="Segoe UI"/>
                <a:cs typeface="Segoe UI"/>
              </a:rPr>
              <a:t>first AI suggestions matched</a:t>
            </a:r>
          </a:p>
          <a:p xmlns:a="http://schemas.openxmlformats.org/drawingml/2006/main">
            <a:pPr>
              <a:defRPr sz="2175" b="0">
                <a:solidFill>
                  <a:srgbClr val="292E25"/>
                </a:solidFill>
                <a:latin typeface="Segoe UI"/>
                <a:ea typeface="Segoe UI"/>
                <a:cs typeface="Segoe UI"/>
              </a:defRPr>
            </a:pPr>
            <a:r>
              <a:rPr sz="2175" b="0">
                <a:solidFill>
                  <a:srgbClr val="292E25"/>
                </a:solidFill>
                <a:latin typeface="Segoe UI"/>
                <a:ea typeface="Segoe UI"/>
                <a:cs typeface="Segoe UI"/>
              </a:rPr>
              <a:t>in the additional EN / KO synthetic set</a:t>
            </a:r>
          </a:p>
        </p:txBody>
      </p:sp>
      <p:sp>
        <p:nvSpPr>
          <p:cNvPr id="6" name="">
            <a:extLst xmlns:a="http://schemas.openxmlformats.org/drawingml/2006/main">
              <a:ext uri="{FF2B5EF4-FFF2-40B4-BE49-F238E27FC236}">
                <a16:creationId xmlns:a16="http://schemas.microsoft.com/office/drawing/2014/main" id="{D6CA9598-2116-4855-9A26-800EDA6F9AB4}"/>
              </a:ext>
            </a:extLst>
          </p:cNvPr>
          <p:cNvSpPr>
            <a:spLocks xmlns:a="http://schemas.openxmlformats.org/drawingml/2006/main" noGrp="1"/>
          </p:cNvSpPr>
          <p:nvPr/>
        </p:nvSpPr>
        <p:spPr>
          <a:xfrm xmlns:a="http://schemas.openxmlformats.org/drawingml/2006/main">
            <a:off x="609600" y="45529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Offline AI, cancellation and reuse passed.</a:t>
            </a:r>
          </a:p>
          <a:p xmlns:a="http://schemas.openxmlformats.org/drawingml/2006/main">
            <a:pPr>
              <a:defRPr sz="2250" b="0">
                <a:solidFill>
                  <a:srgbClr val="292E25"/>
                </a:solidFill>
                <a:latin typeface="Segoe UI"/>
                <a:ea typeface="Segoe UI"/>
                <a:cs typeface="Segoe UI"/>
              </a:defRPr>
            </a:pPr>
            <a:r>
              <a:rPr sz="2250" b="0">
                <a:solidFill>
                  <a:srgbClr val="292E25"/>
                </a:solidFill>
                <a:latin typeface="Segoe UI"/>
                <a:ea typeface="Segoe UI"/>
                <a:cs typeface="Segoe UI"/>
              </a:rPr>
              <a:t>The release APK installed and displayed AI questions.</a:t>
            </a:r>
          </a:p>
        </p:txBody>
      </p:sp>
      <p:sp>
        <p:nvSpPr>
          <p:cNvPr id="7" name="">
            <a:extLst xmlns:a="http://schemas.openxmlformats.org/drawingml/2006/main">
              <a:ext uri="{FF2B5EF4-FFF2-40B4-BE49-F238E27FC236}">
                <a16:creationId xmlns:a16="http://schemas.microsoft.com/office/drawing/2014/main" id="{E3E5AF24-A66E-4C66-A831-F74A1ED67616}"/>
              </a:ext>
            </a:extLst>
          </p:cNvPr>
          <p:cNvSpPr>
            <a:spLocks xmlns:a="http://schemas.openxmlformats.org/drawingml/2006/main" noGrp="1"/>
          </p:cNvSpPr>
          <p:nvPr/>
        </p:nvSpPr>
        <p:spPr>
          <a:xfrm xmlns:a="http://schemas.openxmlformats.org/drawingml/2006/main">
            <a:off x="609600" y="5781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17969"/>
                </a:solidFill>
                <a:latin typeface="Segoe UI"/>
                <a:ea typeface="Segoe UI"/>
                <a:cs typeface="Segoe UI"/>
              </a:defRPr>
            </a:pPr>
            <a:r>
              <a:rPr sz="1650" b="0">
                <a:solidFill>
                  <a:srgbClr val="717969"/>
                </a:solidFill>
                <a:latin typeface="Segoe UI"/>
                <a:ea typeface="Segoe UI"/>
                <a:cs typeface="Segoe UI"/>
              </a:rPr>
              <a:t>Small authored evaluation on one device. Live supported swap-to-journal completion and user retention remain unverified.</a:t>
            </a:r>
          </a:p>
        </p:txBody>
      </p:sp>
      <p:sp>
        <p:nvSpPr>
          <p:cNvPr id="8" name="">
            <a:extLst xmlns:a="http://schemas.openxmlformats.org/drawingml/2006/main">
              <a:ext uri="{FF2B5EF4-FFF2-40B4-BE49-F238E27FC236}">
                <a16:creationId xmlns:a16="http://schemas.microsoft.com/office/drawing/2014/main" id="{AA008FEF-98F6-4873-A916-D1D12622F05A}"/>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7969"/>
                </a:solidFill>
                <a:latin typeface="Segoe UI"/>
                <a:ea typeface="Segoe UI"/>
                <a:cs typeface="Segoe UI"/>
              </a:defRPr>
            </a:pPr>
            <a:r>
              <a:rPr sz="1200" b="0">
                <a:solidFill>
                  <a:srgbClr val="717969"/>
                </a:solidFill>
                <a:latin typeface="Segoe UI"/>
                <a:ea typeface="Segoe UI"/>
                <a:cs typeface="Segoe UI"/>
              </a:rPr>
              <a:t>FOR THE RECORD   /   0.5.1   /   7</a:t>
            </a:r>
          </a:p>
        </p:txBody>
      </p:sp>
    </p:spTree>
    <p:extLst>
      <p:ext uri="{BB962C8B-B14F-4D97-AF65-F5344CB8AC3E}">
        <p14:creationId xmlns:p14="http://schemas.microsoft.com/office/powerpoint/2010/main" val="1347518730"/>
      </p:ext>
    </p:extLst>
  </p:cSld>
</p:sld>
</file>

<file path=ppt/slides/slide8.xml><?xml version="1.0" encoding="utf-8"?>
<p:sld xmlns:p="http://schemas.openxmlformats.org/presentationml/2006/main">
  <p:cSld>
    <p:bg>
      <p:bgPr>
        <a:solidFill xmlns:a="http://schemas.openxmlformats.org/drawingml/2006/main">
          <a:srgbClr val="465E4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99E39F-1B59-4FB7-B030-A524BA0A0516}"/>
              </a:ext>
            </a:extLst>
          </p:cNvPr>
          <p:cNvSpPr>
            <a:spLocks xmlns:a="http://schemas.openxmlformats.org/drawingml/2006/main" noGrp="1"/>
          </p:cNvSpPr>
          <p:nvPr/>
        </p:nvSpPr>
        <p:spPr>
          <a:xfrm xmlns:a="http://schemas.openxmlformats.org/drawingml/2006/main">
            <a:off x="609600" y="876300"/>
            <a:ext cx="10668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Georgia"/>
                <a:ea typeface="Georgia"/>
                <a:cs typeface="Georgia"/>
              </a:defRPr>
            </a:pPr>
            <a:r>
              <a:rPr sz="4800" b="1">
                <a:solidFill>
                  <a:srgbClr val="FFFFFF"/>
                </a:solidFill>
                <a:latin typeface="Georgia"/>
                <a:ea typeface="Georgia"/>
                <a:cs typeface="Georgia"/>
              </a:rPr>
              <a:t>Your decisions,</a:t>
            </a:r>
          </a:p>
          <a:p xmlns:a="http://schemas.openxmlformats.org/drawingml/2006/main">
            <a:pPr>
              <a:defRPr sz="4800" b="1">
                <a:solidFill>
                  <a:srgbClr val="FFFFFF"/>
                </a:solidFill>
                <a:latin typeface="Georgia"/>
                <a:ea typeface="Georgia"/>
                <a:cs typeface="Georgia"/>
              </a:defRPr>
            </a:pPr>
            <a:r>
              <a:rPr sz="4800" b="1">
                <a:solidFill>
                  <a:srgbClr val="FFFFFF"/>
                </a:solidFill>
                <a:latin typeface="Georgia"/>
                <a:ea typeface="Georgia"/>
                <a:cs typeface="Georgia"/>
              </a:rPr>
              <a:t>with their reasons</a:t>
            </a:r>
          </a:p>
        </p:txBody>
      </p:sp>
      <p:sp>
        <p:nvSpPr>
          <p:cNvPr id="2" name="">
            <a:extLst xmlns:a="http://schemas.openxmlformats.org/drawingml/2006/main">
              <a:ext uri="{FF2B5EF4-FFF2-40B4-BE49-F238E27FC236}">
                <a16:creationId xmlns:a16="http://schemas.microsoft.com/office/drawing/2014/main" id="{6B816813-BF5E-4B9D-8047-7D8C0B05763A}"/>
              </a:ext>
            </a:extLst>
          </p:cNvPr>
          <p:cNvSpPr>
            <a:spLocks xmlns:a="http://schemas.openxmlformats.org/drawingml/2006/main" noGrp="1"/>
          </p:cNvSpPr>
          <p:nvPr/>
        </p:nvSpPr>
        <p:spPr>
          <a:xfrm xmlns:a="http://schemas.openxmlformats.org/drawingml/2006/main">
            <a:off x="647700" y="33528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Segoe UI"/>
                <a:ea typeface="Segoe UI"/>
                <a:cs typeface="Segoe UI"/>
              </a:defRPr>
            </a:pPr>
            <a:r>
              <a:rPr sz="2475" b="0">
                <a:solidFill>
                  <a:srgbClr val="FFFFFF"/>
                </a:solidFill>
                <a:latin typeface="Segoe UI"/>
                <a:ea typeface="Segoe UI"/>
                <a:cs typeface="Segoe UI"/>
              </a:rPr>
              <a:t>A private journal for a reflection habit on Seeker.</a:t>
            </a:r>
          </a:p>
        </p:txBody>
      </p:sp>
      <p:sp>
        <p:nvSpPr>
          <p:cNvPr id="3" name="">
            <a:extLst xmlns:a="http://schemas.openxmlformats.org/drawingml/2006/main">
              <a:ext uri="{FF2B5EF4-FFF2-40B4-BE49-F238E27FC236}">
                <a16:creationId xmlns:a16="http://schemas.microsoft.com/office/drawing/2014/main" id="{00617568-9C47-486B-A126-A3ABE5FE5D5F}"/>
              </a:ext>
            </a:extLst>
          </p:cNvPr>
          <p:cNvSpPr>
            <a:spLocks xmlns:a="http://schemas.openxmlformats.org/drawingml/2006/main" noGrp="1"/>
          </p:cNvSpPr>
          <p:nvPr/>
        </p:nvSpPr>
        <p:spPr>
          <a:xfrm xmlns:a="http://schemas.openxmlformats.org/drawingml/2006/main">
            <a:off x="647700" y="45434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5EBDF"/>
                </a:solidFill>
                <a:latin typeface="Segoe UI"/>
                <a:ea typeface="Segoe UI"/>
                <a:cs typeface="Segoe UI"/>
              </a:defRPr>
            </a:pPr>
            <a:r>
              <a:rPr sz="2175" b="0">
                <a:solidFill>
                  <a:srgbClr val="E5EBDF"/>
                </a:solidFill>
                <a:latin typeface="Segoe UI"/>
                <a:ea typeface="Segoe UI"/>
                <a:cs typeface="Segoe UI"/>
              </a:rPr>
              <a:t>Next: a consented pilot measuring first saved reasons,</a:t>
            </a:r>
          </a:p>
          <a:p xmlns:a="http://schemas.openxmlformats.org/drawingml/2006/main">
            <a:pPr>
              <a:defRPr sz="2175" b="0">
                <a:solidFill>
                  <a:srgbClr val="E5EBDF"/>
                </a:solidFill>
                <a:latin typeface="Segoe UI"/>
                <a:ea typeface="Segoe UI"/>
                <a:cs typeface="Segoe UI"/>
              </a:defRPr>
            </a:pPr>
            <a:r>
              <a:rPr sz="2175" b="0">
                <a:solidFill>
                  <a:srgbClr val="E5EBDF"/>
                </a:solidFill>
                <a:latin typeface="Segoe UI"/>
                <a:ea typeface="Segoe UI"/>
                <a:cs typeface="Segoe UI"/>
              </a:rPr>
              <a:t>completed revisits and second-week return.</a:t>
            </a:r>
          </a:p>
        </p:txBody>
      </p:sp>
      <p:sp>
        <p:nvSpPr>
          <p:cNvPr id="4" name="">
            <a:extLst xmlns:a="http://schemas.openxmlformats.org/drawingml/2006/main">
              <a:ext uri="{FF2B5EF4-FFF2-40B4-BE49-F238E27FC236}">
                <a16:creationId xmlns:a16="http://schemas.microsoft.com/office/drawing/2014/main" id="{6ADAE6BE-36A4-4BB9-8669-4CDBFE7E17BE}"/>
              </a:ext>
            </a:extLst>
          </p:cNvPr>
          <p:cNvSpPr>
            <a:spLocks xmlns:a="http://schemas.openxmlformats.org/drawingml/2006/main" noGrp="1"/>
          </p:cNvSpPr>
          <p:nvPr/>
        </p:nvSpPr>
        <p:spPr>
          <a:xfrm xmlns:a="http://schemas.openxmlformats.org/drawingml/2006/main">
            <a:off x="647700" y="58007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workroom-seeker-6984.web.app</a:t>
            </a:r>
          </a:p>
        </p:txBody>
      </p:sp>
      <p:sp>
        <p:nvSpPr>
          <p:cNvPr id="5" name="">
            <a:extLst xmlns:a="http://schemas.openxmlformats.org/drawingml/2006/main">
              <a:ext uri="{FF2B5EF4-FFF2-40B4-BE49-F238E27FC236}">
                <a16:creationId xmlns:a16="http://schemas.microsoft.com/office/drawing/2014/main" id="{FDDD7962-4CBA-4F62-8D6E-FDDF93C94A96}"/>
              </a:ext>
            </a:extLst>
          </p:cNvPr>
          <p:cNvSpPr>
            <a:spLocks xmlns:a="http://schemas.openxmlformats.org/drawingml/2006/main" noGrp="1"/>
          </p:cNvSpPr>
          <p:nvPr/>
        </p:nvSpPr>
        <p:spPr>
          <a:xfrm xmlns:a="http://schemas.openxmlformats.org/drawingml/2006/main">
            <a:off x="609600" y="64579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3DBC9"/>
                </a:solidFill>
                <a:latin typeface="Segoe UI"/>
                <a:ea typeface="Segoe UI"/>
                <a:cs typeface="Segoe UI"/>
              </a:defRPr>
            </a:pPr>
            <a:r>
              <a:rPr sz="1200" b="0">
                <a:solidFill>
                  <a:srgbClr val="D3DBC9"/>
                </a:solidFill>
                <a:latin typeface="Segoe UI"/>
                <a:ea typeface="Segoe UI"/>
                <a:cs typeface="Segoe UI"/>
              </a:rPr>
              <a:t>FOR THE RECORD   /   0.5.1   /   8</a:t>
            </a:r>
          </a:p>
        </p:txBody>
      </p:sp>
    </p:spTree>
    <p:extLst>
      <p:ext uri="{BB962C8B-B14F-4D97-AF65-F5344CB8AC3E}">
        <p14:creationId xmlns:p14="http://schemas.microsoft.com/office/powerpoint/2010/main" val="535941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2026-09-28T12:19:32.6080000Z</dcterms:created>
  <dcterms:modified xsi:type="dcterms:W3CDTF">2026-09-28T12:19:32.6080000Z</dcterms:modified>
</coreProperties>
</file>